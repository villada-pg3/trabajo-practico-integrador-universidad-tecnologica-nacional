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Balsamiq Sans" charset="1" panose="02000603000000000000"/>
      <p:regular r:id="rId14"/>
    </p:embeddedFont>
    <p:embeddedFont>
      <p:font typeface="Lilita One" charset="1" panose="02000000000000000000"/>
      <p:regular r:id="rId15"/>
    </p:embeddedFont>
    <p:embeddedFont>
      <p:font typeface="Balsamiq Sans Bold Italics" charset="1" panose="02000603000000000000"/>
      <p:regular r:id="rId16"/>
    </p:embeddedFont>
    <p:embeddedFont>
      <p:font typeface="Balsamiq Sans Bold" charset="1" panose="02000603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jpe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8.jpe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3.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81075" y="0"/>
            <a:ext cx="272469" cy="10287000"/>
            <a:chOff x="0" y="0"/>
            <a:chExt cx="363292" cy="13716000"/>
          </a:xfrm>
        </p:grpSpPr>
        <p:sp>
          <p:nvSpPr>
            <p:cNvPr name="AutoShape 4" id="4"/>
            <p:cNvSpPr/>
            <p:nvPr/>
          </p:nvSpPr>
          <p:spPr>
            <a:xfrm rot="-5400000">
              <a:off x="-6826250" y="6826250"/>
              <a:ext cx="13716000" cy="0"/>
            </a:xfrm>
            <a:prstGeom prst="line">
              <a:avLst/>
            </a:prstGeom>
            <a:ln cap="flat" w="63500">
              <a:solidFill>
                <a:srgbClr val="D40303"/>
              </a:solidFill>
              <a:prstDash val="solid"/>
              <a:headEnd type="none" len="sm" w="sm"/>
              <a:tailEnd type="none" len="sm" w="sm"/>
            </a:ln>
          </p:spPr>
        </p:sp>
        <p:sp>
          <p:nvSpPr>
            <p:cNvPr name="AutoShape 5" id="5"/>
            <p:cNvSpPr/>
            <p:nvPr/>
          </p:nvSpPr>
          <p:spPr>
            <a:xfrm rot="-5400000">
              <a:off x="-6526458" y="6826250"/>
              <a:ext cx="13716000" cy="0"/>
            </a:xfrm>
            <a:prstGeom prst="line">
              <a:avLst/>
            </a:prstGeom>
            <a:ln cap="flat" w="63500">
              <a:solidFill>
                <a:srgbClr val="D40303"/>
              </a:solidFill>
              <a:prstDash val="solid"/>
              <a:headEnd type="none" len="sm" w="sm"/>
              <a:tailEnd type="none" len="sm" w="sm"/>
            </a:ln>
          </p:spPr>
        </p:sp>
      </p:grpSp>
      <p:grpSp>
        <p:nvGrpSpPr>
          <p:cNvPr name="Group 6" id="6"/>
          <p:cNvGrpSpPr/>
          <p:nvPr/>
        </p:nvGrpSpPr>
        <p:grpSpPr>
          <a:xfrm rot="0">
            <a:off x="2765311" y="6713095"/>
            <a:ext cx="12757377" cy="1346452"/>
            <a:chOff x="0" y="0"/>
            <a:chExt cx="3359968" cy="354621"/>
          </a:xfrm>
        </p:grpSpPr>
        <p:sp>
          <p:nvSpPr>
            <p:cNvPr name="Freeform 7" id="7"/>
            <p:cNvSpPr/>
            <p:nvPr/>
          </p:nvSpPr>
          <p:spPr>
            <a:xfrm flipH="false" flipV="false" rot="0">
              <a:off x="0" y="0"/>
              <a:ext cx="3359968" cy="354621"/>
            </a:xfrm>
            <a:custGeom>
              <a:avLst/>
              <a:gdLst/>
              <a:ahLst/>
              <a:cxnLst/>
              <a:rect r="r" b="b" t="t" l="l"/>
              <a:pathLst>
                <a:path h="354621" w="3359968">
                  <a:moveTo>
                    <a:pt x="0" y="0"/>
                  </a:moveTo>
                  <a:lnTo>
                    <a:pt x="3359968" y="0"/>
                  </a:lnTo>
                  <a:lnTo>
                    <a:pt x="3359968" y="354621"/>
                  </a:lnTo>
                  <a:lnTo>
                    <a:pt x="0" y="354621"/>
                  </a:lnTo>
                  <a:close/>
                </a:path>
              </a:pathLst>
            </a:custGeom>
            <a:solidFill>
              <a:srgbClr val="003B6D"/>
            </a:solidFill>
          </p:spPr>
        </p:sp>
        <p:sp>
          <p:nvSpPr>
            <p:cNvPr name="TextBox 8" id="8"/>
            <p:cNvSpPr txBox="true"/>
            <p:nvPr/>
          </p:nvSpPr>
          <p:spPr>
            <a:xfrm>
              <a:off x="0" y="-76200"/>
              <a:ext cx="3359968" cy="430821"/>
            </a:xfrm>
            <a:prstGeom prst="rect">
              <a:avLst/>
            </a:prstGeom>
          </p:spPr>
          <p:txBody>
            <a:bodyPr anchor="ctr" rtlCol="false" tIns="0" lIns="0" bIns="0" rIns="0"/>
            <a:lstStyle/>
            <a:p>
              <a:pPr algn="ctr">
                <a:lnSpc>
                  <a:spcPts val="4619"/>
                </a:lnSpc>
                <a:spcBef>
                  <a:spcPct val="0"/>
                </a:spcBef>
              </a:pPr>
              <a:r>
                <a:rPr lang="en-US" sz="3299" spc="379">
                  <a:solidFill>
                    <a:srgbClr val="FFFFFF"/>
                  </a:solidFill>
                  <a:latin typeface="Balsamiq Sans"/>
                  <a:ea typeface="Balsamiq Sans"/>
                  <a:cs typeface="Balsamiq Sans"/>
                  <a:sym typeface="Balsamiq Sans"/>
                </a:rPr>
                <a:t>POR: RODRIGO PALACIOS, FACUNDO PERALTA, LUCIANO SIBONA Y TOBIAS GONZALEZ</a:t>
              </a:r>
            </a:p>
          </p:txBody>
        </p:sp>
      </p:grpSp>
      <p:sp>
        <p:nvSpPr>
          <p:cNvPr name="TextBox 9" id="9"/>
          <p:cNvSpPr txBox="true"/>
          <p:nvPr/>
        </p:nvSpPr>
        <p:spPr>
          <a:xfrm rot="0">
            <a:off x="2086022" y="4150747"/>
            <a:ext cx="14115956" cy="1775955"/>
          </a:xfrm>
          <a:prstGeom prst="rect">
            <a:avLst/>
          </a:prstGeom>
        </p:spPr>
        <p:txBody>
          <a:bodyPr anchor="t" rtlCol="false" tIns="0" lIns="0" bIns="0" rIns="0">
            <a:spAutoFit/>
          </a:bodyPr>
          <a:lstStyle/>
          <a:p>
            <a:pPr algn="ctr">
              <a:lnSpc>
                <a:spcPts val="14462"/>
              </a:lnSpc>
            </a:pPr>
            <a:r>
              <a:rPr lang="en-US" sz="10330">
                <a:solidFill>
                  <a:srgbClr val="003B6D"/>
                </a:solidFill>
                <a:latin typeface="Lilita One"/>
                <a:ea typeface="Lilita One"/>
                <a:cs typeface="Lilita One"/>
                <a:sym typeface="Lilita One"/>
              </a:rPr>
              <a:t>PROJECTO INTEGRADOR</a:t>
            </a:r>
          </a:p>
        </p:txBody>
      </p:sp>
      <p:sp>
        <p:nvSpPr>
          <p:cNvPr name="Freeform 10" id="10"/>
          <p:cNvSpPr/>
          <p:nvPr/>
        </p:nvSpPr>
        <p:spPr>
          <a:xfrm flipH="false" flipV="false" rot="0">
            <a:off x="14192494" y="8163164"/>
            <a:ext cx="6133611" cy="2966438"/>
          </a:xfrm>
          <a:custGeom>
            <a:avLst/>
            <a:gdLst/>
            <a:ahLst/>
            <a:cxnLst/>
            <a:rect r="r" b="b" t="t" l="l"/>
            <a:pathLst>
              <a:path h="2966438" w="6133611">
                <a:moveTo>
                  <a:pt x="0" y="0"/>
                </a:moveTo>
                <a:lnTo>
                  <a:pt x="6133612" y="0"/>
                </a:lnTo>
                <a:lnTo>
                  <a:pt x="6133612" y="2966438"/>
                </a:lnTo>
                <a:lnTo>
                  <a:pt x="0" y="2966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484125" y="-1210825"/>
            <a:ext cx="6133611" cy="2966438"/>
          </a:xfrm>
          <a:custGeom>
            <a:avLst/>
            <a:gdLst/>
            <a:ahLst/>
            <a:cxnLst/>
            <a:rect r="r" b="b" t="t" l="l"/>
            <a:pathLst>
              <a:path h="2966438" w="6133611">
                <a:moveTo>
                  <a:pt x="0" y="0"/>
                </a:moveTo>
                <a:lnTo>
                  <a:pt x="6133611" y="0"/>
                </a:lnTo>
                <a:lnTo>
                  <a:pt x="6133611" y="2966438"/>
                </a:lnTo>
                <a:lnTo>
                  <a:pt x="0" y="2966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3494200" y="9027991"/>
            <a:ext cx="3765100" cy="2101611"/>
          </a:xfrm>
          <a:custGeom>
            <a:avLst/>
            <a:gdLst/>
            <a:ahLst/>
            <a:cxnLst/>
            <a:rect r="r" b="b" t="t" l="l"/>
            <a:pathLst>
              <a:path h="2101611" w="3765100">
                <a:moveTo>
                  <a:pt x="0" y="0"/>
                </a:moveTo>
                <a:lnTo>
                  <a:pt x="3765100" y="0"/>
                </a:lnTo>
                <a:lnTo>
                  <a:pt x="3765100" y="2101611"/>
                </a:lnTo>
                <a:lnTo>
                  <a:pt x="0" y="21016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798400" y="-778412"/>
            <a:ext cx="3765100" cy="2101611"/>
          </a:xfrm>
          <a:custGeom>
            <a:avLst/>
            <a:gdLst/>
            <a:ahLst/>
            <a:cxnLst/>
            <a:rect r="r" b="b" t="t" l="l"/>
            <a:pathLst>
              <a:path h="2101611" w="3765100">
                <a:moveTo>
                  <a:pt x="0" y="0"/>
                </a:moveTo>
                <a:lnTo>
                  <a:pt x="3765101" y="0"/>
                </a:lnTo>
                <a:lnTo>
                  <a:pt x="3765101" y="2101611"/>
                </a:lnTo>
                <a:lnTo>
                  <a:pt x="0" y="21016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7921258" y="2299754"/>
            <a:ext cx="2445484" cy="1867974"/>
          </a:xfrm>
          <a:prstGeom prst="rect">
            <a:avLst/>
          </a:prstGeom>
        </p:spPr>
        <p:txBody>
          <a:bodyPr anchor="t" rtlCol="false" tIns="0" lIns="0" bIns="0" rIns="0">
            <a:spAutoFit/>
          </a:bodyPr>
          <a:lstStyle/>
          <a:p>
            <a:pPr algn="ctr">
              <a:lnSpc>
                <a:spcPts val="15162"/>
              </a:lnSpc>
            </a:pPr>
            <a:r>
              <a:rPr lang="en-US" sz="10830">
                <a:solidFill>
                  <a:srgbClr val="003B6D"/>
                </a:solidFill>
                <a:latin typeface="Lilita One"/>
                <a:ea typeface="Lilita One"/>
                <a:cs typeface="Lilita One"/>
                <a:sym typeface="Lilita One"/>
              </a:rPr>
              <a:t>UTN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AutoShape 3" id="3"/>
          <p:cNvSpPr/>
          <p:nvPr/>
        </p:nvSpPr>
        <p:spPr>
          <a:xfrm rot="-10800000">
            <a:off x="0" y="1075879"/>
            <a:ext cx="18288000" cy="0"/>
          </a:xfrm>
          <a:prstGeom prst="line">
            <a:avLst/>
          </a:prstGeom>
          <a:ln cap="flat" w="47625">
            <a:solidFill>
              <a:srgbClr val="D40303"/>
            </a:solidFill>
            <a:prstDash val="solid"/>
            <a:headEnd type="none" len="sm" w="sm"/>
            <a:tailEnd type="none" len="sm" w="sm"/>
          </a:ln>
        </p:spPr>
      </p:sp>
      <p:sp>
        <p:nvSpPr>
          <p:cNvPr name="AutoShape 4" id="4"/>
          <p:cNvSpPr/>
          <p:nvPr/>
        </p:nvSpPr>
        <p:spPr>
          <a:xfrm rot="-10800000">
            <a:off x="0" y="851035"/>
            <a:ext cx="18288000" cy="0"/>
          </a:xfrm>
          <a:prstGeom prst="line">
            <a:avLst/>
          </a:prstGeom>
          <a:ln cap="flat" w="47625">
            <a:solidFill>
              <a:srgbClr val="D40303"/>
            </a:solidFill>
            <a:prstDash val="solid"/>
            <a:headEnd type="none" len="sm" w="sm"/>
            <a:tailEnd type="none" len="sm" w="sm"/>
          </a:ln>
        </p:spPr>
      </p:sp>
      <p:sp>
        <p:nvSpPr>
          <p:cNvPr name="Freeform 5" id="5"/>
          <p:cNvSpPr/>
          <p:nvPr/>
        </p:nvSpPr>
        <p:spPr>
          <a:xfrm flipH="false" flipV="false" rot="0">
            <a:off x="3845292" y="2832027"/>
            <a:ext cx="10597416" cy="5125296"/>
          </a:xfrm>
          <a:custGeom>
            <a:avLst/>
            <a:gdLst/>
            <a:ahLst/>
            <a:cxnLst/>
            <a:rect r="r" b="b" t="t" l="l"/>
            <a:pathLst>
              <a:path h="5125296" w="10597416">
                <a:moveTo>
                  <a:pt x="0" y="0"/>
                </a:moveTo>
                <a:lnTo>
                  <a:pt x="10597416" y="0"/>
                </a:lnTo>
                <a:lnTo>
                  <a:pt x="10597416" y="5125296"/>
                </a:lnTo>
                <a:lnTo>
                  <a:pt x="0" y="5125296"/>
                </a:lnTo>
                <a:lnTo>
                  <a:pt x="0" y="0"/>
                </a:lnTo>
                <a:close/>
              </a:path>
            </a:pathLst>
          </a:custGeom>
          <a:blipFill>
            <a:blip r:embed="rId3">
              <a:alphaModFix amt="9999"/>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221905" y="2139177"/>
            <a:ext cx="11844190" cy="1611933"/>
          </a:xfrm>
          <a:prstGeom prst="rect">
            <a:avLst/>
          </a:prstGeom>
        </p:spPr>
        <p:txBody>
          <a:bodyPr anchor="t" rtlCol="false" tIns="0" lIns="0" bIns="0" rIns="0">
            <a:spAutoFit/>
          </a:bodyPr>
          <a:lstStyle/>
          <a:p>
            <a:pPr algn="ctr">
              <a:lnSpc>
                <a:spcPts val="13154"/>
              </a:lnSpc>
            </a:pPr>
            <a:r>
              <a:rPr lang="en-US" sz="9395">
                <a:solidFill>
                  <a:srgbClr val="003B6D"/>
                </a:solidFill>
                <a:latin typeface="Lilita One"/>
                <a:ea typeface="Lilita One"/>
                <a:cs typeface="Lilita One"/>
                <a:sym typeface="Lilita One"/>
              </a:rPr>
              <a:t>INTRODUCCIÓN</a:t>
            </a:r>
          </a:p>
        </p:txBody>
      </p:sp>
      <p:sp>
        <p:nvSpPr>
          <p:cNvPr name="TextBox 7" id="7"/>
          <p:cNvSpPr txBox="true"/>
          <p:nvPr/>
        </p:nvSpPr>
        <p:spPr>
          <a:xfrm rot="0">
            <a:off x="4533395" y="3987433"/>
            <a:ext cx="9240261" cy="2168853"/>
          </a:xfrm>
          <a:prstGeom prst="rect">
            <a:avLst/>
          </a:prstGeom>
        </p:spPr>
        <p:txBody>
          <a:bodyPr anchor="t" rtlCol="false" tIns="0" lIns="0" bIns="0" rIns="0">
            <a:spAutoFit/>
          </a:bodyPr>
          <a:lstStyle/>
          <a:p>
            <a:pPr algn="ctr">
              <a:lnSpc>
                <a:spcPts val="4358"/>
              </a:lnSpc>
              <a:spcBef>
                <a:spcPct val="0"/>
              </a:spcBef>
            </a:pPr>
            <a:r>
              <a:rPr lang="en-US" sz="3113">
                <a:solidFill>
                  <a:srgbClr val="000000"/>
                </a:solidFill>
                <a:latin typeface="Balsamiq Sans"/>
                <a:ea typeface="Balsamiq Sans"/>
                <a:cs typeface="Balsamiq Sans"/>
                <a:sym typeface="Balsamiq Sans"/>
              </a:rPr>
              <a:t>Nuestro proyecto es sobre la gestión de carreras para estudiantes de la Universidad Tecnologica Nacional  que quieran reinscribirse en materias de segundo a quinto año en cualquier carrera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28700" y="758192"/>
            <a:ext cx="4435909" cy="1674556"/>
          </a:xfrm>
          <a:custGeom>
            <a:avLst/>
            <a:gdLst/>
            <a:ahLst/>
            <a:cxnLst/>
            <a:rect r="r" b="b" t="t" l="l"/>
            <a:pathLst>
              <a:path h="1674556" w="4435909">
                <a:moveTo>
                  <a:pt x="0" y="0"/>
                </a:moveTo>
                <a:lnTo>
                  <a:pt x="4435909" y="0"/>
                </a:lnTo>
                <a:lnTo>
                  <a:pt x="4435909" y="1674556"/>
                </a:lnTo>
                <a:lnTo>
                  <a:pt x="0" y="1674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a:grpSpLocks noChangeAspect="true"/>
          </p:cNvGrpSpPr>
          <p:nvPr/>
        </p:nvGrpSpPr>
        <p:grpSpPr>
          <a:xfrm rot="0">
            <a:off x="1028700" y="1028700"/>
            <a:ext cx="4114800" cy="8229600"/>
            <a:chOff x="0" y="0"/>
            <a:chExt cx="3331210" cy="6662420"/>
          </a:xfrm>
        </p:grpSpPr>
        <p:sp>
          <p:nvSpPr>
            <p:cNvPr name="Freeform 5" id="5"/>
            <p:cNvSpPr/>
            <p:nvPr/>
          </p:nvSpPr>
          <p:spPr>
            <a:xfrm flipH="false" flipV="false" rot="0">
              <a:off x="0" y="0"/>
              <a:ext cx="3331210" cy="6662420"/>
            </a:xfrm>
            <a:custGeom>
              <a:avLst/>
              <a:gdLst/>
              <a:ahLst/>
              <a:cxnLst/>
              <a:rect r="r" b="b" t="t" l="l"/>
              <a:pathLst>
                <a:path h="6662420" w="3331210">
                  <a:moveTo>
                    <a:pt x="3331210" y="3331210"/>
                  </a:moveTo>
                  <a:lnTo>
                    <a:pt x="3331210" y="6662420"/>
                  </a:lnTo>
                  <a:cubicBezTo>
                    <a:pt x="1490980" y="6662420"/>
                    <a:pt x="0" y="5170170"/>
                    <a:pt x="0" y="3331210"/>
                  </a:cubicBezTo>
                  <a:cubicBezTo>
                    <a:pt x="0" y="1492250"/>
                    <a:pt x="1490980" y="0"/>
                    <a:pt x="3331210" y="0"/>
                  </a:cubicBezTo>
                  <a:lnTo>
                    <a:pt x="3331210" y="3331210"/>
                  </a:lnTo>
                  <a:close/>
                </a:path>
              </a:pathLst>
            </a:custGeom>
            <a:blipFill>
              <a:blip r:embed="rId5"/>
              <a:stretch>
                <a:fillRect l="-21268" t="0" r="-178731" b="0"/>
              </a:stretch>
            </a:blipFill>
          </p:spPr>
        </p:sp>
      </p:grpSp>
      <p:sp>
        <p:nvSpPr>
          <p:cNvPr name="Freeform 6" id="6"/>
          <p:cNvSpPr/>
          <p:nvPr/>
        </p:nvSpPr>
        <p:spPr>
          <a:xfrm flipH="false" flipV="false" rot="0">
            <a:off x="2236267" y="8624307"/>
            <a:ext cx="5105352" cy="1927270"/>
          </a:xfrm>
          <a:custGeom>
            <a:avLst/>
            <a:gdLst/>
            <a:ahLst/>
            <a:cxnLst/>
            <a:rect r="r" b="b" t="t" l="l"/>
            <a:pathLst>
              <a:path h="1927270" w="5105352">
                <a:moveTo>
                  <a:pt x="0" y="0"/>
                </a:moveTo>
                <a:lnTo>
                  <a:pt x="5105353" y="0"/>
                </a:lnTo>
                <a:lnTo>
                  <a:pt x="5105353" y="1927271"/>
                </a:lnTo>
                <a:lnTo>
                  <a:pt x="0" y="19272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5678251" y="885825"/>
            <a:ext cx="10908254" cy="1276415"/>
          </a:xfrm>
          <a:prstGeom prst="rect">
            <a:avLst/>
          </a:prstGeom>
        </p:spPr>
        <p:txBody>
          <a:bodyPr anchor="t" rtlCol="false" tIns="0" lIns="0" bIns="0" rIns="0">
            <a:spAutoFit/>
          </a:bodyPr>
          <a:lstStyle/>
          <a:p>
            <a:pPr algn="l">
              <a:lnSpc>
                <a:spcPts val="10491"/>
              </a:lnSpc>
            </a:pPr>
            <a:r>
              <a:rPr lang="en-US" sz="7494">
                <a:solidFill>
                  <a:srgbClr val="003B6D"/>
                </a:solidFill>
                <a:latin typeface="Lilita One"/>
                <a:ea typeface="Lilita One"/>
                <a:cs typeface="Lilita One"/>
                <a:sym typeface="Lilita One"/>
              </a:rPr>
              <a:t>PAUTAS PRINCIPALES</a:t>
            </a:r>
          </a:p>
        </p:txBody>
      </p:sp>
      <p:sp>
        <p:nvSpPr>
          <p:cNvPr name="Freeform 8" id="8"/>
          <p:cNvSpPr/>
          <p:nvPr/>
        </p:nvSpPr>
        <p:spPr>
          <a:xfrm flipH="false" flipV="false" rot="0">
            <a:off x="5517573" y="3529850"/>
            <a:ext cx="1824046" cy="1422756"/>
          </a:xfrm>
          <a:custGeom>
            <a:avLst/>
            <a:gdLst/>
            <a:ahLst/>
            <a:cxnLst/>
            <a:rect r="r" b="b" t="t" l="l"/>
            <a:pathLst>
              <a:path h="1422756" w="1824046">
                <a:moveTo>
                  <a:pt x="0" y="0"/>
                </a:moveTo>
                <a:lnTo>
                  <a:pt x="1824047" y="0"/>
                </a:lnTo>
                <a:lnTo>
                  <a:pt x="1824047" y="1422756"/>
                </a:lnTo>
                <a:lnTo>
                  <a:pt x="0" y="14227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517573" y="6631651"/>
            <a:ext cx="1824046" cy="1422756"/>
          </a:xfrm>
          <a:custGeom>
            <a:avLst/>
            <a:gdLst/>
            <a:ahLst/>
            <a:cxnLst/>
            <a:rect r="r" b="b" t="t" l="l"/>
            <a:pathLst>
              <a:path h="1422756" w="1824046">
                <a:moveTo>
                  <a:pt x="0" y="0"/>
                </a:moveTo>
                <a:lnTo>
                  <a:pt x="1824047" y="0"/>
                </a:lnTo>
                <a:lnTo>
                  <a:pt x="1824047" y="1422756"/>
                </a:lnTo>
                <a:lnTo>
                  <a:pt x="0" y="14227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5954461" y="3386975"/>
            <a:ext cx="950272" cy="1276415"/>
          </a:xfrm>
          <a:prstGeom prst="rect">
            <a:avLst/>
          </a:prstGeom>
        </p:spPr>
        <p:txBody>
          <a:bodyPr anchor="t" rtlCol="false" tIns="0" lIns="0" bIns="0" rIns="0">
            <a:spAutoFit/>
          </a:bodyPr>
          <a:lstStyle/>
          <a:p>
            <a:pPr algn="ctr">
              <a:lnSpc>
                <a:spcPts val="10491"/>
              </a:lnSpc>
            </a:pPr>
            <a:r>
              <a:rPr lang="en-US" sz="7494">
                <a:solidFill>
                  <a:srgbClr val="FFFFFF"/>
                </a:solidFill>
                <a:latin typeface="Lilita One"/>
                <a:ea typeface="Lilita One"/>
                <a:cs typeface="Lilita One"/>
                <a:sym typeface="Lilita One"/>
              </a:rPr>
              <a:t>1</a:t>
            </a:r>
          </a:p>
        </p:txBody>
      </p:sp>
      <p:sp>
        <p:nvSpPr>
          <p:cNvPr name="TextBox 11" id="11"/>
          <p:cNvSpPr txBox="true"/>
          <p:nvPr/>
        </p:nvSpPr>
        <p:spPr>
          <a:xfrm rot="0">
            <a:off x="5954461" y="6488776"/>
            <a:ext cx="950272" cy="1276415"/>
          </a:xfrm>
          <a:prstGeom prst="rect">
            <a:avLst/>
          </a:prstGeom>
        </p:spPr>
        <p:txBody>
          <a:bodyPr anchor="t" rtlCol="false" tIns="0" lIns="0" bIns="0" rIns="0">
            <a:spAutoFit/>
          </a:bodyPr>
          <a:lstStyle/>
          <a:p>
            <a:pPr algn="ctr">
              <a:lnSpc>
                <a:spcPts val="10491"/>
              </a:lnSpc>
            </a:pPr>
            <a:r>
              <a:rPr lang="en-US" sz="7494">
                <a:solidFill>
                  <a:srgbClr val="FFFFFF"/>
                </a:solidFill>
                <a:latin typeface="Lilita One"/>
                <a:ea typeface="Lilita One"/>
                <a:cs typeface="Lilita One"/>
                <a:sym typeface="Lilita One"/>
              </a:rPr>
              <a:t>2</a:t>
            </a:r>
          </a:p>
        </p:txBody>
      </p:sp>
      <p:sp>
        <p:nvSpPr>
          <p:cNvPr name="TextBox 12" id="12"/>
          <p:cNvSpPr txBox="true"/>
          <p:nvPr/>
        </p:nvSpPr>
        <p:spPr>
          <a:xfrm rot="0">
            <a:off x="7398770" y="3202192"/>
            <a:ext cx="9066646" cy="1762457"/>
          </a:xfrm>
          <a:prstGeom prst="rect">
            <a:avLst/>
          </a:prstGeom>
        </p:spPr>
        <p:txBody>
          <a:bodyPr anchor="t" rtlCol="false" tIns="0" lIns="0" bIns="0" rIns="0">
            <a:spAutoFit/>
          </a:bodyPr>
          <a:lstStyle/>
          <a:p>
            <a:pPr algn="l">
              <a:lnSpc>
                <a:spcPts val="3866"/>
              </a:lnSpc>
            </a:pPr>
            <a:r>
              <a:rPr lang="en-US" sz="2761" i="true" b="true">
                <a:solidFill>
                  <a:srgbClr val="000000"/>
                </a:solidFill>
                <a:latin typeface="Balsamiq Sans Bold Italics"/>
                <a:ea typeface="Balsamiq Sans Bold Italics"/>
                <a:cs typeface="Balsamiq Sans Bold Italics"/>
                <a:sym typeface="Balsamiq Sans Bold Italics"/>
              </a:rPr>
              <a:t>Objetivo General:</a:t>
            </a:r>
          </a:p>
          <a:p>
            <a:pPr algn="l">
              <a:lnSpc>
                <a:spcPts val="3446"/>
              </a:lnSpc>
              <a:spcBef>
                <a:spcPct val="0"/>
              </a:spcBef>
            </a:pPr>
            <a:r>
              <a:rPr lang="en-US" sz="2461">
                <a:solidFill>
                  <a:srgbClr val="000000"/>
                </a:solidFill>
                <a:latin typeface="Balsamiq Sans"/>
                <a:ea typeface="Balsamiq Sans"/>
                <a:cs typeface="Balsamiq Sans"/>
                <a:sym typeface="Balsamiq Sans"/>
              </a:rPr>
              <a:t>D</a:t>
            </a:r>
            <a:r>
              <a:rPr lang="en-US" sz="2461">
                <a:solidFill>
                  <a:srgbClr val="000000"/>
                </a:solidFill>
                <a:latin typeface="Balsamiq Sans"/>
                <a:ea typeface="Balsamiq Sans"/>
                <a:cs typeface="Balsamiq Sans"/>
                <a:sym typeface="Balsamiq Sans"/>
              </a:rPr>
              <a:t>esarrollar un sistema web funcional que permita a los estudiantes realizar reinscripción a materias y cursos de forma rápida, segura y totalmente en línea.</a:t>
            </a:r>
          </a:p>
        </p:txBody>
      </p:sp>
      <p:sp>
        <p:nvSpPr>
          <p:cNvPr name="TextBox 13" id="13"/>
          <p:cNvSpPr txBox="true"/>
          <p:nvPr/>
        </p:nvSpPr>
        <p:spPr>
          <a:xfrm rot="0">
            <a:off x="7341620" y="6004601"/>
            <a:ext cx="9066646" cy="2619707"/>
          </a:xfrm>
          <a:prstGeom prst="rect">
            <a:avLst/>
          </a:prstGeom>
        </p:spPr>
        <p:txBody>
          <a:bodyPr anchor="t" rtlCol="false" tIns="0" lIns="0" bIns="0" rIns="0">
            <a:spAutoFit/>
          </a:bodyPr>
          <a:lstStyle/>
          <a:p>
            <a:pPr algn="l">
              <a:lnSpc>
                <a:spcPts val="3866"/>
              </a:lnSpc>
            </a:pPr>
            <a:r>
              <a:rPr lang="en-US" sz="2761" i="true" b="true">
                <a:solidFill>
                  <a:srgbClr val="000000"/>
                </a:solidFill>
                <a:latin typeface="Balsamiq Sans Bold Italics"/>
                <a:ea typeface="Balsamiq Sans Bold Italics"/>
                <a:cs typeface="Balsamiq Sans Bold Italics"/>
                <a:sym typeface="Balsamiq Sans Bold Italics"/>
              </a:rPr>
              <a:t>Metodologia de Trabajo</a:t>
            </a:r>
          </a:p>
          <a:p>
            <a:pPr algn="l">
              <a:lnSpc>
                <a:spcPts val="3446"/>
              </a:lnSpc>
              <a:spcBef>
                <a:spcPct val="0"/>
              </a:spcBef>
            </a:pPr>
            <a:r>
              <a:rPr lang="en-US" sz="2461">
                <a:solidFill>
                  <a:srgbClr val="000000"/>
                </a:solidFill>
                <a:latin typeface="Balsamiq Sans"/>
                <a:ea typeface="Balsamiq Sans"/>
                <a:cs typeface="Balsamiq Sans"/>
                <a:sym typeface="Balsamiq Sans"/>
              </a:rPr>
              <a:t>S</a:t>
            </a:r>
            <a:r>
              <a:rPr lang="en-US" sz="2461">
                <a:solidFill>
                  <a:srgbClr val="000000"/>
                </a:solidFill>
                <a:latin typeface="Balsamiq Sans"/>
                <a:ea typeface="Balsamiq Sans"/>
                <a:cs typeface="Balsamiq Sans"/>
                <a:sym typeface="Balsamiq Sans"/>
              </a:rPr>
              <a:t>e siguió una metodología iterativa e incremental, permitiendo agregar funcionalidades por etapas y realizar pruebas continuas durante el desarrollo.</a:t>
            </a:r>
          </a:p>
          <a:p>
            <a:pPr algn="l">
              <a:lnSpc>
                <a:spcPts val="3446"/>
              </a:lnSpc>
              <a:spcBef>
                <a:spcPct val="0"/>
              </a:spcBef>
            </a:pPr>
            <a:r>
              <a:rPr lang="en-US" sz="2461">
                <a:solidFill>
                  <a:srgbClr val="000000"/>
                </a:solidFill>
                <a:latin typeface="Balsamiq Sans"/>
                <a:ea typeface="Balsamiq Sans"/>
                <a:cs typeface="Balsamiq Sans"/>
                <a:sym typeface="Balsamiq Sans"/>
              </a:rPr>
              <a:t> Cada módulo fue probado individualmente antes de su integración final.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127362" y="3411158"/>
            <a:ext cx="4729983" cy="5511769"/>
            <a:chOff x="0" y="0"/>
            <a:chExt cx="2266636" cy="2641272"/>
          </a:xfrm>
        </p:grpSpPr>
        <p:sp>
          <p:nvSpPr>
            <p:cNvPr name="Freeform 4" id="4"/>
            <p:cNvSpPr/>
            <p:nvPr/>
          </p:nvSpPr>
          <p:spPr>
            <a:xfrm flipH="false" flipV="false" rot="0">
              <a:off x="-3810" y="1270"/>
              <a:ext cx="2271716" cy="2640002"/>
            </a:xfrm>
            <a:custGeom>
              <a:avLst/>
              <a:gdLst/>
              <a:ahLst/>
              <a:cxnLst/>
              <a:rect r="r" b="b" t="t" l="l"/>
              <a:pathLst>
                <a:path h="2640002" w="2271716">
                  <a:moveTo>
                    <a:pt x="2267906" y="2272413"/>
                  </a:moveTo>
                  <a:cubicBezTo>
                    <a:pt x="2267906" y="2153719"/>
                    <a:pt x="2271716" y="2033013"/>
                    <a:pt x="2265366" y="1914319"/>
                  </a:cubicBezTo>
                  <a:cubicBezTo>
                    <a:pt x="2257746" y="1835860"/>
                    <a:pt x="2246316" y="288816"/>
                    <a:pt x="2246316" y="210358"/>
                  </a:cubicBezTo>
                  <a:cubicBezTo>
                    <a:pt x="2243776" y="156040"/>
                    <a:pt x="2242506" y="99711"/>
                    <a:pt x="2239966" y="54610"/>
                  </a:cubicBezTo>
                  <a:cubicBezTo>
                    <a:pt x="2239966" y="44450"/>
                    <a:pt x="2238696" y="34290"/>
                    <a:pt x="2237426" y="21590"/>
                  </a:cubicBezTo>
                  <a:cubicBezTo>
                    <a:pt x="2227266" y="19050"/>
                    <a:pt x="2218376" y="17780"/>
                    <a:pt x="2208216" y="16510"/>
                  </a:cubicBezTo>
                  <a:cubicBezTo>
                    <a:pt x="2198668" y="15240"/>
                    <a:pt x="2188379" y="16510"/>
                    <a:pt x="2179804" y="16510"/>
                  </a:cubicBezTo>
                  <a:cubicBezTo>
                    <a:pt x="2136931" y="13970"/>
                    <a:pt x="2094057" y="8890"/>
                    <a:pt x="2051183" y="7620"/>
                  </a:cubicBezTo>
                  <a:cubicBezTo>
                    <a:pt x="1970581" y="5080"/>
                    <a:pt x="1888264" y="3810"/>
                    <a:pt x="1807661" y="2540"/>
                  </a:cubicBezTo>
                  <a:cubicBezTo>
                    <a:pt x="1778507" y="2540"/>
                    <a:pt x="1747638" y="0"/>
                    <a:pt x="1718484" y="0"/>
                  </a:cubicBezTo>
                  <a:cubicBezTo>
                    <a:pt x="1648171" y="0"/>
                    <a:pt x="1579573" y="1270"/>
                    <a:pt x="1509261" y="1270"/>
                  </a:cubicBezTo>
                  <a:cubicBezTo>
                    <a:pt x="1468102" y="1270"/>
                    <a:pt x="1426943" y="3810"/>
                    <a:pt x="1384070" y="3810"/>
                  </a:cubicBezTo>
                  <a:cubicBezTo>
                    <a:pt x="1341196" y="5080"/>
                    <a:pt x="564326" y="7620"/>
                    <a:pt x="521452" y="7620"/>
                  </a:cubicBezTo>
                  <a:cubicBezTo>
                    <a:pt x="487153" y="7620"/>
                    <a:pt x="452854" y="6350"/>
                    <a:pt x="418556" y="7620"/>
                  </a:cubicBezTo>
                  <a:cubicBezTo>
                    <a:pt x="387687" y="8890"/>
                    <a:pt x="355103" y="11430"/>
                    <a:pt x="324234" y="12700"/>
                  </a:cubicBezTo>
                  <a:cubicBezTo>
                    <a:pt x="291650" y="15240"/>
                    <a:pt x="259066" y="16510"/>
                    <a:pt x="228197" y="19050"/>
                  </a:cubicBezTo>
                  <a:cubicBezTo>
                    <a:pt x="181893" y="21590"/>
                    <a:pt x="133875" y="24130"/>
                    <a:pt x="87571" y="27940"/>
                  </a:cubicBezTo>
                  <a:cubicBezTo>
                    <a:pt x="60132" y="30480"/>
                    <a:pt x="38100" y="34290"/>
                    <a:pt x="16510" y="36830"/>
                  </a:cubicBezTo>
                  <a:cubicBezTo>
                    <a:pt x="16510" y="38100"/>
                    <a:pt x="13970" y="40640"/>
                    <a:pt x="13970" y="43180"/>
                  </a:cubicBezTo>
                  <a:cubicBezTo>
                    <a:pt x="12700" y="71546"/>
                    <a:pt x="10160" y="117817"/>
                    <a:pt x="8890" y="162075"/>
                  </a:cubicBezTo>
                  <a:cubicBezTo>
                    <a:pt x="7620" y="188228"/>
                    <a:pt x="8890" y="216393"/>
                    <a:pt x="7620" y="242546"/>
                  </a:cubicBezTo>
                  <a:cubicBezTo>
                    <a:pt x="0" y="375322"/>
                    <a:pt x="5080" y="2018931"/>
                    <a:pt x="7620" y="2153719"/>
                  </a:cubicBezTo>
                  <a:cubicBezTo>
                    <a:pt x="6350" y="2260342"/>
                    <a:pt x="11430" y="2364953"/>
                    <a:pt x="11430" y="2471577"/>
                  </a:cubicBezTo>
                  <a:cubicBezTo>
                    <a:pt x="11430" y="2521871"/>
                    <a:pt x="15240" y="2574177"/>
                    <a:pt x="7620" y="2609522"/>
                  </a:cubicBezTo>
                  <a:cubicBezTo>
                    <a:pt x="5080" y="2618412"/>
                    <a:pt x="10160" y="2624762"/>
                    <a:pt x="19050" y="2626032"/>
                  </a:cubicBezTo>
                  <a:cubicBezTo>
                    <a:pt x="29210" y="2627302"/>
                    <a:pt x="38100" y="2627302"/>
                    <a:pt x="48260" y="2627302"/>
                  </a:cubicBezTo>
                  <a:cubicBezTo>
                    <a:pt x="101291" y="2628572"/>
                    <a:pt x="156169" y="2628572"/>
                    <a:pt x="212762" y="2629842"/>
                  </a:cubicBezTo>
                  <a:cubicBezTo>
                    <a:pt x="243631" y="2631112"/>
                    <a:pt x="274500" y="2632382"/>
                    <a:pt x="303654" y="2633652"/>
                  </a:cubicBezTo>
                  <a:cubicBezTo>
                    <a:pt x="355103" y="2634922"/>
                    <a:pt x="404836" y="2634922"/>
                    <a:pt x="456284" y="2636192"/>
                  </a:cubicBezTo>
                  <a:cubicBezTo>
                    <a:pt x="476864" y="2636192"/>
                    <a:pt x="495728" y="2636192"/>
                    <a:pt x="516307" y="2634922"/>
                  </a:cubicBezTo>
                  <a:cubicBezTo>
                    <a:pt x="524882" y="2634922"/>
                    <a:pt x="535172" y="2633652"/>
                    <a:pt x="543747" y="2633652"/>
                  </a:cubicBezTo>
                  <a:cubicBezTo>
                    <a:pt x="578045" y="2634922"/>
                    <a:pt x="1264023" y="2626032"/>
                    <a:pt x="1298322" y="2627302"/>
                  </a:cubicBezTo>
                  <a:cubicBezTo>
                    <a:pt x="1346341" y="2628572"/>
                    <a:pt x="1478392" y="2628572"/>
                    <a:pt x="1526410" y="2628572"/>
                  </a:cubicBezTo>
                  <a:cubicBezTo>
                    <a:pt x="1545274" y="2628572"/>
                    <a:pt x="1562424" y="2627302"/>
                    <a:pt x="1581288" y="2627302"/>
                  </a:cubicBezTo>
                  <a:cubicBezTo>
                    <a:pt x="1612157" y="2628572"/>
                    <a:pt x="1643026" y="2629842"/>
                    <a:pt x="1673895" y="2631112"/>
                  </a:cubicBezTo>
                  <a:cubicBezTo>
                    <a:pt x="1740778" y="2633652"/>
                    <a:pt x="1805946" y="2631112"/>
                    <a:pt x="1872829" y="2634922"/>
                  </a:cubicBezTo>
                  <a:cubicBezTo>
                    <a:pt x="1984300" y="2640002"/>
                    <a:pt x="2097487" y="2633652"/>
                    <a:pt x="2208216" y="2638732"/>
                  </a:cubicBezTo>
                  <a:cubicBezTo>
                    <a:pt x="2228536" y="2640002"/>
                    <a:pt x="2248856" y="2638732"/>
                    <a:pt x="2271716" y="2638732"/>
                  </a:cubicBezTo>
                  <a:cubicBezTo>
                    <a:pt x="2271716" y="2614602"/>
                    <a:pt x="2271716" y="2601902"/>
                    <a:pt x="2271716" y="2576188"/>
                  </a:cubicBezTo>
                  <a:cubicBezTo>
                    <a:pt x="2270446" y="2473589"/>
                    <a:pt x="2267906" y="2377024"/>
                    <a:pt x="2267906" y="2272413"/>
                  </a:cubicBezTo>
                  <a:close/>
                </a:path>
              </a:pathLst>
            </a:custGeom>
            <a:solidFill>
              <a:srgbClr val="9CCEE9">
                <a:alpha val="48627"/>
              </a:srgbClr>
            </a:solidFill>
          </p:spPr>
        </p:sp>
      </p:grpSp>
      <p:sp>
        <p:nvSpPr>
          <p:cNvPr name="Freeform 5" id="5"/>
          <p:cNvSpPr/>
          <p:nvPr/>
        </p:nvSpPr>
        <p:spPr>
          <a:xfrm flipH="false" flipV="false" rot="0">
            <a:off x="1904817" y="3089409"/>
            <a:ext cx="3247001" cy="643497"/>
          </a:xfrm>
          <a:custGeom>
            <a:avLst/>
            <a:gdLst/>
            <a:ahLst/>
            <a:cxnLst/>
            <a:rect r="r" b="b" t="t" l="l"/>
            <a:pathLst>
              <a:path h="643497" w="3247001">
                <a:moveTo>
                  <a:pt x="0" y="0"/>
                </a:moveTo>
                <a:lnTo>
                  <a:pt x="3247002" y="0"/>
                </a:lnTo>
                <a:lnTo>
                  <a:pt x="3247002" y="643497"/>
                </a:lnTo>
                <a:lnTo>
                  <a:pt x="0" y="643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6827784" y="3411158"/>
            <a:ext cx="4729983" cy="5511769"/>
            <a:chOff x="0" y="0"/>
            <a:chExt cx="2266636" cy="2641272"/>
          </a:xfrm>
        </p:grpSpPr>
        <p:sp>
          <p:nvSpPr>
            <p:cNvPr name="Freeform 7" id="7"/>
            <p:cNvSpPr/>
            <p:nvPr/>
          </p:nvSpPr>
          <p:spPr>
            <a:xfrm flipH="false" flipV="false" rot="0">
              <a:off x="-3810" y="1270"/>
              <a:ext cx="2271716" cy="2640002"/>
            </a:xfrm>
            <a:custGeom>
              <a:avLst/>
              <a:gdLst/>
              <a:ahLst/>
              <a:cxnLst/>
              <a:rect r="r" b="b" t="t" l="l"/>
              <a:pathLst>
                <a:path h="2640002" w="2271716">
                  <a:moveTo>
                    <a:pt x="2267906" y="2272413"/>
                  </a:moveTo>
                  <a:cubicBezTo>
                    <a:pt x="2267906" y="2153719"/>
                    <a:pt x="2271716" y="2033013"/>
                    <a:pt x="2265366" y="1914319"/>
                  </a:cubicBezTo>
                  <a:cubicBezTo>
                    <a:pt x="2257746" y="1835860"/>
                    <a:pt x="2246316" y="288816"/>
                    <a:pt x="2246316" y="210358"/>
                  </a:cubicBezTo>
                  <a:cubicBezTo>
                    <a:pt x="2243776" y="156040"/>
                    <a:pt x="2242506" y="99711"/>
                    <a:pt x="2239966" y="54610"/>
                  </a:cubicBezTo>
                  <a:cubicBezTo>
                    <a:pt x="2239966" y="44450"/>
                    <a:pt x="2238696" y="34290"/>
                    <a:pt x="2237426" y="21590"/>
                  </a:cubicBezTo>
                  <a:cubicBezTo>
                    <a:pt x="2227266" y="19050"/>
                    <a:pt x="2218376" y="17780"/>
                    <a:pt x="2208216" y="16510"/>
                  </a:cubicBezTo>
                  <a:cubicBezTo>
                    <a:pt x="2198668" y="15240"/>
                    <a:pt x="2188379" y="16510"/>
                    <a:pt x="2179804" y="16510"/>
                  </a:cubicBezTo>
                  <a:cubicBezTo>
                    <a:pt x="2136931" y="13970"/>
                    <a:pt x="2094057" y="8890"/>
                    <a:pt x="2051183" y="7620"/>
                  </a:cubicBezTo>
                  <a:cubicBezTo>
                    <a:pt x="1970581" y="5080"/>
                    <a:pt x="1888264" y="3810"/>
                    <a:pt x="1807661" y="2540"/>
                  </a:cubicBezTo>
                  <a:cubicBezTo>
                    <a:pt x="1778507" y="2540"/>
                    <a:pt x="1747638" y="0"/>
                    <a:pt x="1718484" y="0"/>
                  </a:cubicBezTo>
                  <a:cubicBezTo>
                    <a:pt x="1648171" y="0"/>
                    <a:pt x="1579573" y="1270"/>
                    <a:pt x="1509261" y="1270"/>
                  </a:cubicBezTo>
                  <a:cubicBezTo>
                    <a:pt x="1468102" y="1270"/>
                    <a:pt x="1426943" y="3810"/>
                    <a:pt x="1384070" y="3810"/>
                  </a:cubicBezTo>
                  <a:cubicBezTo>
                    <a:pt x="1341196" y="5080"/>
                    <a:pt x="564326" y="7620"/>
                    <a:pt x="521452" y="7620"/>
                  </a:cubicBezTo>
                  <a:cubicBezTo>
                    <a:pt x="487153" y="7620"/>
                    <a:pt x="452854" y="6350"/>
                    <a:pt x="418556" y="7620"/>
                  </a:cubicBezTo>
                  <a:cubicBezTo>
                    <a:pt x="387687" y="8890"/>
                    <a:pt x="355103" y="11430"/>
                    <a:pt x="324234" y="12700"/>
                  </a:cubicBezTo>
                  <a:cubicBezTo>
                    <a:pt x="291650" y="15240"/>
                    <a:pt x="259066" y="16510"/>
                    <a:pt x="228197" y="19050"/>
                  </a:cubicBezTo>
                  <a:cubicBezTo>
                    <a:pt x="181893" y="21590"/>
                    <a:pt x="133875" y="24130"/>
                    <a:pt x="87571" y="27940"/>
                  </a:cubicBezTo>
                  <a:cubicBezTo>
                    <a:pt x="60132" y="30480"/>
                    <a:pt x="38100" y="34290"/>
                    <a:pt x="16510" y="36830"/>
                  </a:cubicBezTo>
                  <a:cubicBezTo>
                    <a:pt x="16510" y="38100"/>
                    <a:pt x="13970" y="40640"/>
                    <a:pt x="13970" y="43180"/>
                  </a:cubicBezTo>
                  <a:cubicBezTo>
                    <a:pt x="12700" y="71546"/>
                    <a:pt x="10160" y="117817"/>
                    <a:pt x="8890" y="162075"/>
                  </a:cubicBezTo>
                  <a:cubicBezTo>
                    <a:pt x="7620" y="188228"/>
                    <a:pt x="8890" y="216393"/>
                    <a:pt x="7620" y="242546"/>
                  </a:cubicBezTo>
                  <a:cubicBezTo>
                    <a:pt x="0" y="375322"/>
                    <a:pt x="5080" y="2018931"/>
                    <a:pt x="7620" y="2153719"/>
                  </a:cubicBezTo>
                  <a:cubicBezTo>
                    <a:pt x="6350" y="2260342"/>
                    <a:pt x="11430" y="2364953"/>
                    <a:pt x="11430" y="2471577"/>
                  </a:cubicBezTo>
                  <a:cubicBezTo>
                    <a:pt x="11430" y="2521871"/>
                    <a:pt x="15240" y="2574177"/>
                    <a:pt x="7620" y="2609522"/>
                  </a:cubicBezTo>
                  <a:cubicBezTo>
                    <a:pt x="5080" y="2618412"/>
                    <a:pt x="10160" y="2624762"/>
                    <a:pt x="19050" y="2626032"/>
                  </a:cubicBezTo>
                  <a:cubicBezTo>
                    <a:pt x="29210" y="2627302"/>
                    <a:pt x="38100" y="2627302"/>
                    <a:pt x="48260" y="2627302"/>
                  </a:cubicBezTo>
                  <a:cubicBezTo>
                    <a:pt x="101291" y="2628572"/>
                    <a:pt x="156169" y="2628572"/>
                    <a:pt x="212762" y="2629842"/>
                  </a:cubicBezTo>
                  <a:cubicBezTo>
                    <a:pt x="243631" y="2631112"/>
                    <a:pt x="274500" y="2632382"/>
                    <a:pt x="303654" y="2633652"/>
                  </a:cubicBezTo>
                  <a:cubicBezTo>
                    <a:pt x="355103" y="2634922"/>
                    <a:pt x="404836" y="2634922"/>
                    <a:pt x="456284" y="2636192"/>
                  </a:cubicBezTo>
                  <a:cubicBezTo>
                    <a:pt x="476864" y="2636192"/>
                    <a:pt x="495728" y="2636192"/>
                    <a:pt x="516307" y="2634922"/>
                  </a:cubicBezTo>
                  <a:cubicBezTo>
                    <a:pt x="524882" y="2634922"/>
                    <a:pt x="535172" y="2633652"/>
                    <a:pt x="543747" y="2633652"/>
                  </a:cubicBezTo>
                  <a:cubicBezTo>
                    <a:pt x="578045" y="2634922"/>
                    <a:pt x="1264023" y="2626032"/>
                    <a:pt x="1298322" y="2627302"/>
                  </a:cubicBezTo>
                  <a:cubicBezTo>
                    <a:pt x="1346341" y="2628572"/>
                    <a:pt x="1478392" y="2628572"/>
                    <a:pt x="1526410" y="2628572"/>
                  </a:cubicBezTo>
                  <a:cubicBezTo>
                    <a:pt x="1545274" y="2628572"/>
                    <a:pt x="1562424" y="2627302"/>
                    <a:pt x="1581288" y="2627302"/>
                  </a:cubicBezTo>
                  <a:cubicBezTo>
                    <a:pt x="1612157" y="2628572"/>
                    <a:pt x="1643026" y="2629842"/>
                    <a:pt x="1673895" y="2631112"/>
                  </a:cubicBezTo>
                  <a:cubicBezTo>
                    <a:pt x="1740778" y="2633652"/>
                    <a:pt x="1805946" y="2631112"/>
                    <a:pt x="1872829" y="2634922"/>
                  </a:cubicBezTo>
                  <a:cubicBezTo>
                    <a:pt x="1984300" y="2640002"/>
                    <a:pt x="2097487" y="2633652"/>
                    <a:pt x="2208216" y="2638732"/>
                  </a:cubicBezTo>
                  <a:cubicBezTo>
                    <a:pt x="2228536" y="2640002"/>
                    <a:pt x="2248856" y="2638732"/>
                    <a:pt x="2271716" y="2638732"/>
                  </a:cubicBezTo>
                  <a:cubicBezTo>
                    <a:pt x="2271716" y="2614602"/>
                    <a:pt x="2271716" y="2601902"/>
                    <a:pt x="2271716" y="2576188"/>
                  </a:cubicBezTo>
                  <a:cubicBezTo>
                    <a:pt x="2270446" y="2473589"/>
                    <a:pt x="2267906" y="2377024"/>
                    <a:pt x="2267906" y="2272413"/>
                  </a:cubicBezTo>
                  <a:close/>
                </a:path>
              </a:pathLst>
            </a:custGeom>
            <a:solidFill>
              <a:srgbClr val="9CCEE9">
                <a:alpha val="48627"/>
              </a:srgbClr>
            </a:solidFill>
          </p:spPr>
        </p:sp>
      </p:grpSp>
      <p:sp>
        <p:nvSpPr>
          <p:cNvPr name="Freeform 8" id="8"/>
          <p:cNvSpPr/>
          <p:nvPr/>
        </p:nvSpPr>
        <p:spPr>
          <a:xfrm flipH="false" flipV="false" rot="0">
            <a:off x="7605239" y="3089409"/>
            <a:ext cx="3247001" cy="643497"/>
          </a:xfrm>
          <a:custGeom>
            <a:avLst/>
            <a:gdLst/>
            <a:ahLst/>
            <a:cxnLst/>
            <a:rect r="r" b="b" t="t" l="l"/>
            <a:pathLst>
              <a:path h="643497" w="3247001">
                <a:moveTo>
                  <a:pt x="0" y="0"/>
                </a:moveTo>
                <a:lnTo>
                  <a:pt x="3247001" y="0"/>
                </a:lnTo>
                <a:lnTo>
                  <a:pt x="3247001" y="643497"/>
                </a:lnTo>
                <a:lnTo>
                  <a:pt x="0" y="643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2529317" y="3411158"/>
            <a:ext cx="4729983" cy="5511769"/>
            <a:chOff x="0" y="0"/>
            <a:chExt cx="2266636" cy="2641272"/>
          </a:xfrm>
        </p:grpSpPr>
        <p:sp>
          <p:nvSpPr>
            <p:cNvPr name="Freeform 10" id="10"/>
            <p:cNvSpPr/>
            <p:nvPr/>
          </p:nvSpPr>
          <p:spPr>
            <a:xfrm flipH="false" flipV="false" rot="0">
              <a:off x="-3810" y="1270"/>
              <a:ext cx="2271716" cy="2640002"/>
            </a:xfrm>
            <a:custGeom>
              <a:avLst/>
              <a:gdLst/>
              <a:ahLst/>
              <a:cxnLst/>
              <a:rect r="r" b="b" t="t" l="l"/>
              <a:pathLst>
                <a:path h="2640002" w="2271716">
                  <a:moveTo>
                    <a:pt x="2267906" y="2272413"/>
                  </a:moveTo>
                  <a:cubicBezTo>
                    <a:pt x="2267906" y="2153719"/>
                    <a:pt x="2271716" y="2033013"/>
                    <a:pt x="2265366" y="1914319"/>
                  </a:cubicBezTo>
                  <a:cubicBezTo>
                    <a:pt x="2257746" y="1835860"/>
                    <a:pt x="2246316" y="288816"/>
                    <a:pt x="2246316" y="210358"/>
                  </a:cubicBezTo>
                  <a:cubicBezTo>
                    <a:pt x="2243776" y="156040"/>
                    <a:pt x="2242506" y="99711"/>
                    <a:pt x="2239966" y="54610"/>
                  </a:cubicBezTo>
                  <a:cubicBezTo>
                    <a:pt x="2239966" y="44450"/>
                    <a:pt x="2238696" y="34290"/>
                    <a:pt x="2237426" y="21590"/>
                  </a:cubicBezTo>
                  <a:cubicBezTo>
                    <a:pt x="2227266" y="19050"/>
                    <a:pt x="2218376" y="17780"/>
                    <a:pt x="2208216" y="16510"/>
                  </a:cubicBezTo>
                  <a:cubicBezTo>
                    <a:pt x="2198668" y="15240"/>
                    <a:pt x="2188379" y="16510"/>
                    <a:pt x="2179804" y="16510"/>
                  </a:cubicBezTo>
                  <a:cubicBezTo>
                    <a:pt x="2136931" y="13970"/>
                    <a:pt x="2094057" y="8890"/>
                    <a:pt x="2051183" y="7620"/>
                  </a:cubicBezTo>
                  <a:cubicBezTo>
                    <a:pt x="1970581" y="5080"/>
                    <a:pt x="1888264" y="3810"/>
                    <a:pt x="1807661" y="2540"/>
                  </a:cubicBezTo>
                  <a:cubicBezTo>
                    <a:pt x="1778507" y="2540"/>
                    <a:pt x="1747638" y="0"/>
                    <a:pt x="1718484" y="0"/>
                  </a:cubicBezTo>
                  <a:cubicBezTo>
                    <a:pt x="1648171" y="0"/>
                    <a:pt x="1579573" y="1270"/>
                    <a:pt x="1509261" y="1270"/>
                  </a:cubicBezTo>
                  <a:cubicBezTo>
                    <a:pt x="1468102" y="1270"/>
                    <a:pt x="1426943" y="3810"/>
                    <a:pt x="1384070" y="3810"/>
                  </a:cubicBezTo>
                  <a:cubicBezTo>
                    <a:pt x="1341196" y="5080"/>
                    <a:pt x="564326" y="7620"/>
                    <a:pt x="521452" y="7620"/>
                  </a:cubicBezTo>
                  <a:cubicBezTo>
                    <a:pt x="487153" y="7620"/>
                    <a:pt x="452854" y="6350"/>
                    <a:pt x="418556" y="7620"/>
                  </a:cubicBezTo>
                  <a:cubicBezTo>
                    <a:pt x="387687" y="8890"/>
                    <a:pt x="355103" y="11430"/>
                    <a:pt x="324234" y="12700"/>
                  </a:cubicBezTo>
                  <a:cubicBezTo>
                    <a:pt x="291650" y="15240"/>
                    <a:pt x="259066" y="16510"/>
                    <a:pt x="228197" y="19050"/>
                  </a:cubicBezTo>
                  <a:cubicBezTo>
                    <a:pt x="181893" y="21590"/>
                    <a:pt x="133875" y="24130"/>
                    <a:pt x="87571" y="27940"/>
                  </a:cubicBezTo>
                  <a:cubicBezTo>
                    <a:pt x="60132" y="30480"/>
                    <a:pt x="38100" y="34290"/>
                    <a:pt x="16510" y="36830"/>
                  </a:cubicBezTo>
                  <a:cubicBezTo>
                    <a:pt x="16510" y="38100"/>
                    <a:pt x="13970" y="40640"/>
                    <a:pt x="13970" y="43180"/>
                  </a:cubicBezTo>
                  <a:cubicBezTo>
                    <a:pt x="12700" y="71546"/>
                    <a:pt x="10160" y="117817"/>
                    <a:pt x="8890" y="162075"/>
                  </a:cubicBezTo>
                  <a:cubicBezTo>
                    <a:pt x="7620" y="188228"/>
                    <a:pt x="8890" y="216393"/>
                    <a:pt x="7620" y="242546"/>
                  </a:cubicBezTo>
                  <a:cubicBezTo>
                    <a:pt x="0" y="375322"/>
                    <a:pt x="5080" y="2018931"/>
                    <a:pt x="7620" y="2153719"/>
                  </a:cubicBezTo>
                  <a:cubicBezTo>
                    <a:pt x="6350" y="2260342"/>
                    <a:pt x="11430" y="2364953"/>
                    <a:pt x="11430" y="2471577"/>
                  </a:cubicBezTo>
                  <a:cubicBezTo>
                    <a:pt x="11430" y="2521871"/>
                    <a:pt x="15240" y="2574177"/>
                    <a:pt x="7620" y="2609522"/>
                  </a:cubicBezTo>
                  <a:cubicBezTo>
                    <a:pt x="5080" y="2618412"/>
                    <a:pt x="10160" y="2624762"/>
                    <a:pt x="19050" y="2626032"/>
                  </a:cubicBezTo>
                  <a:cubicBezTo>
                    <a:pt x="29210" y="2627302"/>
                    <a:pt x="38100" y="2627302"/>
                    <a:pt x="48260" y="2627302"/>
                  </a:cubicBezTo>
                  <a:cubicBezTo>
                    <a:pt x="101291" y="2628572"/>
                    <a:pt x="156169" y="2628572"/>
                    <a:pt x="212762" y="2629842"/>
                  </a:cubicBezTo>
                  <a:cubicBezTo>
                    <a:pt x="243631" y="2631112"/>
                    <a:pt x="274500" y="2632382"/>
                    <a:pt x="303654" y="2633652"/>
                  </a:cubicBezTo>
                  <a:cubicBezTo>
                    <a:pt x="355103" y="2634922"/>
                    <a:pt x="404836" y="2634922"/>
                    <a:pt x="456284" y="2636192"/>
                  </a:cubicBezTo>
                  <a:cubicBezTo>
                    <a:pt x="476864" y="2636192"/>
                    <a:pt x="495728" y="2636192"/>
                    <a:pt x="516307" y="2634922"/>
                  </a:cubicBezTo>
                  <a:cubicBezTo>
                    <a:pt x="524882" y="2634922"/>
                    <a:pt x="535172" y="2633652"/>
                    <a:pt x="543747" y="2633652"/>
                  </a:cubicBezTo>
                  <a:cubicBezTo>
                    <a:pt x="578045" y="2634922"/>
                    <a:pt x="1264023" y="2626032"/>
                    <a:pt x="1298322" y="2627302"/>
                  </a:cubicBezTo>
                  <a:cubicBezTo>
                    <a:pt x="1346341" y="2628572"/>
                    <a:pt x="1478392" y="2628572"/>
                    <a:pt x="1526410" y="2628572"/>
                  </a:cubicBezTo>
                  <a:cubicBezTo>
                    <a:pt x="1545274" y="2628572"/>
                    <a:pt x="1562424" y="2627302"/>
                    <a:pt x="1581288" y="2627302"/>
                  </a:cubicBezTo>
                  <a:cubicBezTo>
                    <a:pt x="1612157" y="2628572"/>
                    <a:pt x="1643026" y="2629842"/>
                    <a:pt x="1673895" y="2631112"/>
                  </a:cubicBezTo>
                  <a:cubicBezTo>
                    <a:pt x="1740778" y="2633652"/>
                    <a:pt x="1805946" y="2631112"/>
                    <a:pt x="1872829" y="2634922"/>
                  </a:cubicBezTo>
                  <a:cubicBezTo>
                    <a:pt x="1984300" y="2640002"/>
                    <a:pt x="2097487" y="2633652"/>
                    <a:pt x="2208216" y="2638732"/>
                  </a:cubicBezTo>
                  <a:cubicBezTo>
                    <a:pt x="2228536" y="2640002"/>
                    <a:pt x="2248856" y="2638732"/>
                    <a:pt x="2271716" y="2638732"/>
                  </a:cubicBezTo>
                  <a:cubicBezTo>
                    <a:pt x="2271716" y="2614602"/>
                    <a:pt x="2271716" y="2601902"/>
                    <a:pt x="2271716" y="2576188"/>
                  </a:cubicBezTo>
                  <a:cubicBezTo>
                    <a:pt x="2270446" y="2473589"/>
                    <a:pt x="2267906" y="2377024"/>
                    <a:pt x="2267906" y="2272413"/>
                  </a:cubicBezTo>
                  <a:close/>
                </a:path>
              </a:pathLst>
            </a:custGeom>
            <a:solidFill>
              <a:srgbClr val="9CCEE9">
                <a:alpha val="48627"/>
              </a:srgbClr>
            </a:solidFill>
          </p:spPr>
        </p:sp>
      </p:grpSp>
      <p:sp>
        <p:nvSpPr>
          <p:cNvPr name="Freeform 11" id="11"/>
          <p:cNvSpPr/>
          <p:nvPr/>
        </p:nvSpPr>
        <p:spPr>
          <a:xfrm flipH="false" flipV="false" rot="0">
            <a:off x="13306772" y="3089409"/>
            <a:ext cx="3247001" cy="643497"/>
          </a:xfrm>
          <a:custGeom>
            <a:avLst/>
            <a:gdLst/>
            <a:ahLst/>
            <a:cxnLst/>
            <a:rect r="r" b="b" t="t" l="l"/>
            <a:pathLst>
              <a:path h="643497" w="3247001">
                <a:moveTo>
                  <a:pt x="0" y="0"/>
                </a:moveTo>
                <a:lnTo>
                  <a:pt x="3247002" y="0"/>
                </a:lnTo>
                <a:lnTo>
                  <a:pt x="3247002" y="643497"/>
                </a:lnTo>
                <a:lnTo>
                  <a:pt x="0" y="643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3716056" y="1148353"/>
            <a:ext cx="10855889" cy="963204"/>
          </a:xfrm>
          <a:prstGeom prst="rect">
            <a:avLst/>
          </a:prstGeom>
        </p:spPr>
        <p:txBody>
          <a:bodyPr anchor="t" rtlCol="false" tIns="0" lIns="0" bIns="0" rIns="0">
            <a:spAutoFit/>
          </a:bodyPr>
          <a:lstStyle/>
          <a:p>
            <a:pPr algn="ctr">
              <a:lnSpc>
                <a:spcPts val="7805"/>
              </a:lnSpc>
            </a:pPr>
            <a:r>
              <a:rPr lang="en-US" sz="5575">
                <a:solidFill>
                  <a:srgbClr val="003B6D"/>
                </a:solidFill>
                <a:latin typeface="Lilita One"/>
                <a:ea typeface="Lilita One"/>
                <a:cs typeface="Lilita One"/>
                <a:sym typeface="Lilita One"/>
              </a:rPr>
              <a:t>INFORMACIÓN IMPORTANTE</a:t>
            </a:r>
          </a:p>
        </p:txBody>
      </p:sp>
      <p:sp>
        <p:nvSpPr>
          <p:cNvPr name="TextBox 13" id="13"/>
          <p:cNvSpPr txBox="true"/>
          <p:nvPr/>
        </p:nvSpPr>
        <p:spPr>
          <a:xfrm rot="0">
            <a:off x="1416726" y="4589907"/>
            <a:ext cx="3735093" cy="1699591"/>
          </a:xfrm>
          <a:prstGeom prst="rect">
            <a:avLst/>
          </a:prstGeom>
        </p:spPr>
        <p:txBody>
          <a:bodyPr anchor="t" rtlCol="false" tIns="0" lIns="0" bIns="0" rIns="0">
            <a:spAutoFit/>
          </a:bodyPr>
          <a:lstStyle/>
          <a:p>
            <a:pPr algn="l">
              <a:lnSpc>
                <a:spcPts val="3446"/>
              </a:lnSpc>
              <a:spcBef>
                <a:spcPct val="0"/>
              </a:spcBef>
            </a:pPr>
            <a:r>
              <a:rPr lang="en-US" sz="2461">
                <a:solidFill>
                  <a:srgbClr val="000000"/>
                </a:solidFill>
                <a:latin typeface="Balsamiq Sans"/>
                <a:ea typeface="Balsamiq Sans"/>
                <a:cs typeface="Balsamiq Sans"/>
                <a:sym typeface="Balsamiq Sans"/>
              </a:rPr>
              <a:t>A</a:t>
            </a:r>
            <a:r>
              <a:rPr lang="en-US" sz="2461">
                <a:solidFill>
                  <a:srgbClr val="000000"/>
                </a:solidFill>
                <a:latin typeface="Balsamiq Sans"/>
                <a:ea typeface="Balsamiq Sans"/>
                <a:cs typeface="Balsamiq Sans"/>
                <a:sym typeface="Balsamiq Sans"/>
              </a:rPr>
              <a:t>plicación web desarrollada con Django, orientada a la gestión académica universitaria.</a:t>
            </a:r>
          </a:p>
        </p:txBody>
      </p:sp>
      <p:sp>
        <p:nvSpPr>
          <p:cNvPr name="TextBox 14" id="14"/>
          <p:cNvSpPr txBox="true"/>
          <p:nvPr/>
        </p:nvSpPr>
        <p:spPr>
          <a:xfrm rot="0">
            <a:off x="1416726" y="3924577"/>
            <a:ext cx="3998079" cy="464134"/>
          </a:xfrm>
          <a:prstGeom prst="rect">
            <a:avLst/>
          </a:prstGeom>
        </p:spPr>
        <p:txBody>
          <a:bodyPr anchor="t" rtlCol="false" tIns="0" lIns="0" bIns="0" rIns="0">
            <a:spAutoFit/>
          </a:bodyPr>
          <a:lstStyle/>
          <a:p>
            <a:pPr algn="l">
              <a:lnSpc>
                <a:spcPts val="3817"/>
              </a:lnSpc>
              <a:spcBef>
                <a:spcPct val="0"/>
              </a:spcBef>
            </a:pPr>
            <a:r>
              <a:rPr lang="en-US" b="true" sz="2726">
                <a:solidFill>
                  <a:srgbClr val="000000"/>
                </a:solidFill>
                <a:latin typeface="Balsamiq Sans Bold"/>
                <a:ea typeface="Balsamiq Sans Bold"/>
                <a:cs typeface="Balsamiq Sans Bold"/>
                <a:sym typeface="Balsamiq Sans Bold"/>
              </a:rPr>
              <a:t>TIPO DE PROYECTO</a:t>
            </a:r>
          </a:p>
        </p:txBody>
      </p:sp>
      <p:sp>
        <p:nvSpPr>
          <p:cNvPr name="TextBox 15" id="15"/>
          <p:cNvSpPr txBox="true"/>
          <p:nvPr/>
        </p:nvSpPr>
        <p:spPr>
          <a:xfrm rot="0">
            <a:off x="7229700" y="4589907"/>
            <a:ext cx="3735093" cy="2985466"/>
          </a:xfrm>
          <a:prstGeom prst="rect">
            <a:avLst/>
          </a:prstGeom>
        </p:spPr>
        <p:txBody>
          <a:bodyPr anchor="t" rtlCol="false" tIns="0" lIns="0" bIns="0" rIns="0">
            <a:spAutoFit/>
          </a:bodyPr>
          <a:lstStyle/>
          <a:p>
            <a:pPr algn="l">
              <a:lnSpc>
                <a:spcPts val="3446"/>
              </a:lnSpc>
              <a:spcBef>
                <a:spcPct val="0"/>
              </a:spcBef>
            </a:pPr>
            <a:r>
              <a:rPr lang="en-US" sz="2461">
                <a:solidFill>
                  <a:srgbClr val="000000"/>
                </a:solidFill>
                <a:latin typeface="Balsamiq Sans"/>
                <a:ea typeface="Balsamiq Sans"/>
                <a:cs typeface="Balsamiq Sans"/>
                <a:sym typeface="Balsamiq Sans"/>
              </a:rPr>
              <a:t>Facilita</a:t>
            </a:r>
            <a:r>
              <a:rPr lang="en-US" sz="2461">
                <a:solidFill>
                  <a:srgbClr val="000000"/>
                </a:solidFill>
                <a:latin typeface="Balsamiq Sans"/>
                <a:ea typeface="Balsamiq Sans"/>
                <a:cs typeface="Balsamiq Sans"/>
                <a:sym typeface="Balsamiq Sans"/>
              </a:rPr>
              <a:t>r el proceso de inscripción y reinscripción a materias y cursos de manera digital, reduciendo los tiempos administrativos y errores manuales.</a:t>
            </a:r>
          </a:p>
        </p:txBody>
      </p:sp>
      <p:sp>
        <p:nvSpPr>
          <p:cNvPr name="TextBox 16" id="16"/>
          <p:cNvSpPr txBox="true"/>
          <p:nvPr/>
        </p:nvSpPr>
        <p:spPr>
          <a:xfrm rot="0">
            <a:off x="7229700" y="3924577"/>
            <a:ext cx="3998079" cy="464134"/>
          </a:xfrm>
          <a:prstGeom prst="rect">
            <a:avLst/>
          </a:prstGeom>
        </p:spPr>
        <p:txBody>
          <a:bodyPr anchor="t" rtlCol="false" tIns="0" lIns="0" bIns="0" rIns="0">
            <a:spAutoFit/>
          </a:bodyPr>
          <a:lstStyle/>
          <a:p>
            <a:pPr algn="l">
              <a:lnSpc>
                <a:spcPts val="3817"/>
              </a:lnSpc>
              <a:spcBef>
                <a:spcPct val="0"/>
              </a:spcBef>
            </a:pPr>
            <a:r>
              <a:rPr lang="en-US" b="true" sz="2726">
                <a:solidFill>
                  <a:srgbClr val="000000"/>
                </a:solidFill>
                <a:latin typeface="Balsamiq Sans Bold"/>
                <a:ea typeface="Balsamiq Sans Bold"/>
                <a:cs typeface="Balsamiq Sans Bold"/>
                <a:sym typeface="Balsamiq Sans Bold"/>
              </a:rPr>
              <a:t>FINALIDAD</a:t>
            </a:r>
          </a:p>
        </p:txBody>
      </p:sp>
      <p:sp>
        <p:nvSpPr>
          <p:cNvPr name="TextBox 17" id="17"/>
          <p:cNvSpPr txBox="true"/>
          <p:nvPr/>
        </p:nvSpPr>
        <p:spPr>
          <a:xfrm rot="0">
            <a:off x="12967467" y="4589907"/>
            <a:ext cx="3735093" cy="2985466"/>
          </a:xfrm>
          <a:prstGeom prst="rect">
            <a:avLst/>
          </a:prstGeom>
        </p:spPr>
        <p:txBody>
          <a:bodyPr anchor="t" rtlCol="false" tIns="0" lIns="0" bIns="0" rIns="0">
            <a:spAutoFit/>
          </a:bodyPr>
          <a:lstStyle/>
          <a:p>
            <a:pPr algn="l">
              <a:lnSpc>
                <a:spcPts val="3446"/>
              </a:lnSpc>
              <a:spcBef>
                <a:spcPct val="0"/>
              </a:spcBef>
            </a:pPr>
            <a:r>
              <a:rPr lang="en-US" sz="2461">
                <a:solidFill>
                  <a:srgbClr val="000000"/>
                </a:solidFill>
                <a:latin typeface="Balsamiq Sans"/>
                <a:ea typeface="Balsamiq Sans"/>
                <a:cs typeface="Balsamiq Sans"/>
                <a:sym typeface="Balsamiq Sans"/>
              </a:rPr>
              <a:t>E</a:t>
            </a:r>
            <a:r>
              <a:rPr lang="en-US" sz="2461">
                <a:solidFill>
                  <a:srgbClr val="000000"/>
                </a:solidFill>
                <a:latin typeface="Balsamiq Sans"/>
                <a:ea typeface="Balsamiq Sans"/>
                <a:cs typeface="Balsamiq Sans"/>
                <a:sym typeface="Balsamiq Sans"/>
              </a:rPr>
              <a:t>l sistema está preparado para incorporar nuevas funciones, como reportes, notificaciones por correo o integración con otros módulos universitarios.</a:t>
            </a:r>
          </a:p>
        </p:txBody>
      </p:sp>
      <p:sp>
        <p:nvSpPr>
          <p:cNvPr name="TextBox 18" id="18"/>
          <p:cNvSpPr txBox="true"/>
          <p:nvPr/>
        </p:nvSpPr>
        <p:spPr>
          <a:xfrm rot="0">
            <a:off x="12967467" y="3924577"/>
            <a:ext cx="3998079" cy="464134"/>
          </a:xfrm>
          <a:prstGeom prst="rect">
            <a:avLst/>
          </a:prstGeom>
        </p:spPr>
        <p:txBody>
          <a:bodyPr anchor="t" rtlCol="false" tIns="0" lIns="0" bIns="0" rIns="0">
            <a:spAutoFit/>
          </a:bodyPr>
          <a:lstStyle/>
          <a:p>
            <a:pPr algn="l">
              <a:lnSpc>
                <a:spcPts val="3817"/>
              </a:lnSpc>
              <a:spcBef>
                <a:spcPct val="0"/>
              </a:spcBef>
            </a:pPr>
            <a:r>
              <a:rPr lang="en-US" b="true" sz="2726">
                <a:solidFill>
                  <a:srgbClr val="000000"/>
                </a:solidFill>
                <a:latin typeface="Balsamiq Sans Bold"/>
                <a:ea typeface="Balsamiq Sans Bold"/>
                <a:cs typeface="Balsamiq Sans Bold"/>
                <a:sym typeface="Balsamiq Sans Bold"/>
              </a:rPr>
              <a:t>ESCALABILIDAD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81075" y="0"/>
            <a:ext cx="272469" cy="10287000"/>
            <a:chOff x="0" y="0"/>
            <a:chExt cx="363292" cy="13716000"/>
          </a:xfrm>
        </p:grpSpPr>
        <p:sp>
          <p:nvSpPr>
            <p:cNvPr name="AutoShape 4" id="4"/>
            <p:cNvSpPr/>
            <p:nvPr/>
          </p:nvSpPr>
          <p:spPr>
            <a:xfrm rot="-5400000">
              <a:off x="-6826250" y="6826250"/>
              <a:ext cx="13716000" cy="0"/>
            </a:xfrm>
            <a:prstGeom prst="line">
              <a:avLst/>
            </a:prstGeom>
            <a:ln cap="flat" w="63500">
              <a:solidFill>
                <a:srgbClr val="D40303"/>
              </a:solidFill>
              <a:prstDash val="solid"/>
              <a:headEnd type="none" len="sm" w="sm"/>
              <a:tailEnd type="none" len="sm" w="sm"/>
            </a:ln>
          </p:spPr>
        </p:sp>
        <p:sp>
          <p:nvSpPr>
            <p:cNvPr name="AutoShape 5" id="5"/>
            <p:cNvSpPr/>
            <p:nvPr/>
          </p:nvSpPr>
          <p:spPr>
            <a:xfrm rot="-5400000">
              <a:off x="-6526458" y="6826250"/>
              <a:ext cx="13716000" cy="0"/>
            </a:xfrm>
            <a:prstGeom prst="line">
              <a:avLst/>
            </a:prstGeom>
            <a:ln cap="flat" w="63500">
              <a:solidFill>
                <a:srgbClr val="D40303"/>
              </a:solidFill>
              <a:prstDash val="solid"/>
              <a:headEnd type="none" len="sm" w="sm"/>
              <a:tailEnd type="none" len="sm" w="sm"/>
            </a:ln>
          </p:spPr>
        </p:sp>
      </p:grpSp>
      <p:grpSp>
        <p:nvGrpSpPr>
          <p:cNvPr name="Group 6" id="6"/>
          <p:cNvGrpSpPr/>
          <p:nvPr/>
        </p:nvGrpSpPr>
        <p:grpSpPr>
          <a:xfrm rot="0">
            <a:off x="1660540" y="1274114"/>
            <a:ext cx="532448" cy="53244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60540" y="4877276"/>
            <a:ext cx="532448" cy="53244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660540" y="8476774"/>
            <a:ext cx="532448" cy="53244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4177556" y="5057290"/>
            <a:ext cx="3609980" cy="666660"/>
            <a:chOff x="0" y="0"/>
            <a:chExt cx="950777" cy="175581"/>
          </a:xfrm>
        </p:grpSpPr>
        <p:sp>
          <p:nvSpPr>
            <p:cNvPr name="Freeform 16" id="16"/>
            <p:cNvSpPr/>
            <p:nvPr/>
          </p:nvSpPr>
          <p:spPr>
            <a:xfrm flipH="false" flipV="false" rot="0">
              <a:off x="0" y="0"/>
              <a:ext cx="950777" cy="175581"/>
            </a:xfrm>
            <a:custGeom>
              <a:avLst/>
              <a:gdLst/>
              <a:ahLst/>
              <a:cxnLst/>
              <a:rect r="r" b="b" t="t" l="l"/>
              <a:pathLst>
                <a:path h="175581" w="950777">
                  <a:moveTo>
                    <a:pt x="25735" y="0"/>
                  </a:moveTo>
                  <a:lnTo>
                    <a:pt x="925042" y="0"/>
                  </a:lnTo>
                  <a:cubicBezTo>
                    <a:pt x="939255" y="0"/>
                    <a:pt x="950777" y="11522"/>
                    <a:pt x="950777" y="25735"/>
                  </a:cubicBezTo>
                  <a:lnTo>
                    <a:pt x="950777" y="149846"/>
                  </a:lnTo>
                  <a:cubicBezTo>
                    <a:pt x="950777" y="164059"/>
                    <a:pt x="939255" y="175581"/>
                    <a:pt x="925042" y="175581"/>
                  </a:cubicBezTo>
                  <a:lnTo>
                    <a:pt x="25735" y="175581"/>
                  </a:lnTo>
                  <a:cubicBezTo>
                    <a:pt x="11522" y="175581"/>
                    <a:pt x="0" y="164059"/>
                    <a:pt x="0" y="149846"/>
                  </a:cubicBezTo>
                  <a:lnTo>
                    <a:pt x="0" y="25735"/>
                  </a:lnTo>
                  <a:cubicBezTo>
                    <a:pt x="0" y="11522"/>
                    <a:pt x="11522" y="0"/>
                    <a:pt x="25735" y="0"/>
                  </a:cubicBezTo>
                  <a:close/>
                </a:path>
              </a:pathLst>
            </a:custGeom>
            <a:solidFill>
              <a:srgbClr val="79D452"/>
            </a:solidFill>
          </p:spPr>
        </p:sp>
        <p:sp>
          <p:nvSpPr>
            <p:cNvPr name="TextBox 17" id="17"/>
            <p:cNvSpPr txBox="true"/>
            <p:nvPr/>
          </p:nvSpPr>
          <p:spPr>
            <a:xfrm>
              <a:off x="0" y="-57150"/>
              <a:ext cx="950777" cy="232731"/>
            </a:xfrm>
            <a:prstGeom prst="rect">
              <a:avLst/>
            </a:prstGeom>
          </p:spPr>
          <p:txBody>
            <a:bodyPr anchor="ctr" rtlCol="false" tIns="50800" lIns="50800" bIns="50800" rIns="50800"/>
            <a:lstStyle/>
            <a:p>
              <a:pPr algn="ctr">
                <a:lnSpc>
                  <a:spcPts val="3577"/>
                </a:lnSpc>
              </a:pPr>
              <a:r>
                <a:rPr lang="en-US" b="true" sz="2555">
                  <a:solidFill>
                    <a:srgbClr val="FFFFFF"/>
                  </a:solidFill>
                  <a:latin typeface="Balsamiq Sans Bold"/>
                  <a:ea typeface="Balsamiq Sans Bold"/>
                  <a:cs typeface="Balsamiq Sans Bold"/>
                  <a:sym typeface="Balsamiq Sans Bold"/>
                </a:rPr>
                <a:t>GESTION DE USUARIO</a:t>
              </a:r>
            </a:p>
          </p:txBody>
        </p:sp>
      </p:grpSp>
      <p:sp>
        <p:nvSpPr>
          <p:cNvPr name="Freeform 18" id="18"/>
          <p:cNvSpPr/>
          <p:nvPr/>
        </p:nvSpPr>
        <p:spPr>
          <a:xfrm flipH="false" flipV="false" rot="0">
            <a:off x="3270506" y="5057290"/>
            <a:ext cx="765797" cy="666552"/>
          </a:xfrm>
          <a:custGeom>
            <a:avLst/>
            <a:gdLst/>
            <a:ahLst/>
            <a:cxnLst/>
            <a:rect r="r" b="b" t="t" l="l"/>
            <a:pathLst>
              <a:path h="666552" w="765797">
                <a:moveTo>
                  <a:pt x="0" y="0"/>
                </a:moveTo>
                <a:lnTo>
                  <a:pt x="765797" y="0"/>
                </a:lnTo>
                <a:lnTo>
                  <a:pt x="765797" y="666552"/>
                </a:lnTo>
                <a:lnTo>
                  <a:pt x="0" y="666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4177556" y="6000840"/>
            <a:ext cx="3609980" cy="666627"/>
            <a:chOff x="0" y="0"/>
            <a:chExt cx="950777" cy="175573"/>
          </a:xfrm>
        </p:grpSpPr>
        <p:sp>
          <p:nvSpPr>
            <p:cNvPr name="Freeform 20" id="20"/>
            <p:cNvSpPr/>
            <p:nvPr/>
          </p:nvSpPr>
          <p:spPr>
            <a:xfrm flipH="false" flipV="false" rot="0">
              <a:off x="0" y="0"/>
              <a:ext cx="950777" cy="175573"/>
            </a:xfrm>
            <a:custGeom>
              <a:avLst/>
              <a:gdLst/>
              <a:ahLst/>
              <a:cxnLst/>
              <a:rect r="r" b="b" t="t" l="l"/>
              <a:pathLst>
                <a:path h="175573" w="950777">
                  <a:moveTo>
                    <a:pt x="25735" y="0"/>
                  </a:moveTo>
                  <a:lnTo>
                    <a:pt x="925042" y="0"/>
                  </a:lnTo>
                  <a:cubicBezTo>
                    <a:pt x="939255" y="0"/>
                    <a:pt x="950777" y="11522"/>
                    <a:pt x="950777" y="25735"/>
                  </a:cubicBezTo>
                  <a:lnTo>
                    <a:pt x="950777" y="149838"/>
                  </a:lnTo>
                  <a:cubicBezTo>
                    <a:pt x="950777" y="164051"/>
                    <a:pt x="939255" y="175573"/>
                    <a:pt x="925042" y="175573"/>
                  </a:cubicBezTo>
                  <a:lnTo>
                    <a:pt x="25735" y="175573"/>
                  </a:lnTo>
                  <a:cubicBezTo>
                    <a:pt x="11522" y="175573"/>
                    <a:pt x="0" y="164051"/>
                    <a:pt x="0" y="149838"/>
                  </a:cubicBezTo>
                  <a:lnTo>
                    <a:pt x="0" y="25735"/>
                  </a:lnTo>
                  <a:cubicBezTo>
                    <a:pt x="0" y="11522"/>
                    <a:pt x="11522" y="0"/>
                    <a:pt x="25735" y="0"/>
                  </a:cubicBezTo>
                  <a:close/>
                </a:path>
              </a:pathLst>
            </a:custGeom>
            <a:solidFill>
              <a:srgbClr val="79D452"/>
            </a:solidFill>
          </p:spPr>
        </p:sp>
        <p:sp>
          <p:nvSpPr>
            <p:cNvPr name="TextBox 21" id="21"/>
            <p:cNvSpPr txBox="true"/>
            <p:nvPr/>
          </p:nvSpPr>
          <p:spPr>
            <a:xfrm>
              <a:off x="0" y="-57150"/>
              <a:ext cx="950777" cy="232723"/>
            </a:xfrm>
            <a:prstGeom prst="rect">
              <a:avLst/>
            </a:prstGeom>
          </p:spPr>
          <p:txBody>
            <a:bodyPr anchor="ctr" rtlCol="false" tIns="50800" lIns="50800" bIns="50800" rIns="50800"/>
            <a:lstStyle/>
            <a:p>
              <a:pPr algn="ctr">
                <a:lnSpc>
                  <a:spcPts val="3577"/>
                </a:lnSpc>
              </a:pPr>
              <a:r>
                <a:rPr lang="en-US" b="true" sz="2555">
                  <a:solidFill>
                    <a:srgbClr val="FFFFFF"/>
                  </a:solidFill>
                  <a:latin typeface="Balsamiq Sans Bold"/>
                  <a:ea typeface="Balsamiq Sans Bold"/>
                  <a:cs typeface="Balsamiq Sans Bold"/>
                  <a:sym typeface="Balsamiq Sans Bold"/>
                </a:rPr>
                <a:t>REINSCRIPCIONES</a:t>
              </a:r>
            </a:p>
          </p:txBody>
        </p:sp>
      </p:grpSp>
      <p:sp>
        <p:nvSpPr>
          <p:cNvPr name="Freeform 22" id="22"/>
          <p:cNvSpPr/>
          <p:nvPr/>
        </p:nvSpPr>
        <p:spPr>
          <a:xfrm flipH="false" flipV="false" rot="0">
            <a:off x="3270506" y="6000840"/>
            <a:ext cx="765797" cy="666552"/>
          </a:xfrm>
          <a:custGeom>
            <a:avLst/>
            <a:gdLst/>
            <a:ahLst/>
            <a:cxnLst/>
            <a:rect r="r" b="b" t="t" l="l"/>
            <a:pathLst>
              <a:path h="666552" w="765797">
                <a:moveTo>
                  <a:pt x="0" y="0"/>
                </a:moveTo>
                <a:lnTo>
                  <a:pt x="765797" y="0"/>
                </a:lnTo>
                <a:lnTo>
                  <a:pt x="765797" y="666552"/>
                </a:lnTo>
                <a:lnTo>
                  <a:pt x="0" y="666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3" id="23"/>
          <p:cNvGrpSpPr/>
          <p:nvPr/>
        </p:nvGrpSpPr>
        <p:grpSpPr>
          <a:xfrm rot="0">
            <a:off x="4177556" y="6866564"/>
            <a:ext cx="3609980" cy="666627"/>
            <a:chOff x="0" y="0"/>
            <a:chExt cx="950777" cy="175573"/>
          </a:xfrm>
        </p:grpSpPr>
        <p:sp>
          <p:nvSpPr>
            <p:cNvPr name="Freeform 24" id="24"/>
            <p:cNvSpPr/>
            <p:nvPr/>
          </p:nvSpPr>
          <p:spPr>
            <a:xfrm flipH="false" flipV="false" rot="0">
              <a:off x="0" y="0"/>
              <a:ext cx="950777" cy="175573"/>
            </a:xfrm>
            <a:custGeom>
              <a:avLst/>
              <a:gdLst/>
              <a:ahLst/>
              <a:cxnLst/>
              <a:rect r="r" b="b" t="t" l="l"/>
              <a:pathLst>
                <a:path h="175573" w="950777">
                  <a:moveTo>
                    <a:pt x="25735" y="0"/>
                  </a:moveTo>
                  <a:lnTo>
                    <a:pt x="925042" y="0"/>
                  </a:lnTo>
                  <a:cubicBezTo>
                    <a:pt x="939255" y="0"/>
                    <a:pt x="950777" y="11522"/>
                    <a:pt x="950777" y="25735"/>
                  </a:cubicBezTo>
                  <a:lnTo>
                    <a:pt x="950777" y="149838"/>
                  </a:lnTo>
                  <a:cubicBezTo>
                    <a:pt x="950777" y="164051"/>
                    <a:pt x="939255" y="175573"/>
                    <a:pt x="925042" y="175573"/>
                  </a:cubicBezTo>
                  <a:lnTo>
                    <a:pt x="25735" y="175573"/>
                  </a:lnTo>
                  <a:cubicBezTo>
                    <a:pt x="11522" y="175573"/>
                    <a:pt x="0" y="164051"/>
                    <a:pt x="0" y="149838"/>
                  </a:cubicBezTo>
                  <a:lnTo>
                    <a:pt x="0" y="25735"/>
                  </a:lnTo>
                  <a:cubicBezTo>
                    <a:pt x="0" y="11522"/>
                    <a:pt x="11522" y="0"/>
                    <a:pt x="25735" y="0"/>
                  </a:cubicBezTo>
                  <a:close/>
                </a:path>
              </a:pathLst>
            </a:custGeom>
            <a:solidFill>
              <a:srgbClr val="79D452"/>
            </a:solidFill>
          </p:spPr>
        </p:sp>
        <p:sp>
          <p:nvSpPr>
            <p:cNvPr name="TextBox 25" id="25"/>
            <p:cNvSpPr txBox="true"/>
            <p:nvPr/>
          </p:nvSpPr>
          <p:spPr>
            <a:xfrm>
              <a:off x="0" y="-57150"/>
              <a:ext cx="950777" cy="232723"/>
            </a:xfrm>
            <a:prstGeom prst="rect">
              <a:avLst/>
            </a:prstGeom>
          </p:spPr>
          <p:txBody>
            <a:bodyPr anchor="ctr" rtlCol="false" tIns="50800" lIns="50800" bIns="50800" rIns="50800"/>
            <a:lstStyle/>
            <a:p>
              <a:pPr algn="ctr">
                <a:lnSpc>
                  <a:spcPts val="3577"/>
                </a:lnSpc>
              </a:pPr>
              <a:r>
                <a:rPr lang="en-US" b="true" sz="2555">
                  <a:solidFill>
                    <a:srgbClr val="FFFFFF"/>
                  </a:solidFill>
                  <a:latin typeface="Balsamiq Sans Bold"/>
                  <a:ea typeface="Balsamiq Sans Bold"/>
                  <a:cs typeface="Balsamiq Sans Bold"/>
                  <a:sym typeface="Balsamiq Sans Bold"/>
                </a:rPr>
                <a:t>EXPO CARRERAS</a:t>
              </a:r>
            </a:p>
          </p:txBody>
        </p:sp>
      </p:grpSp>
      <p:sp>
        <p:nvSpPr>
          <p:cNvPr name="Freeform 26" id="26"/>
          <p:cNvSpPr/>
          <p:nvPr/>
        </p:nvSpPr>
        <p:spPr>
          <a:xfrm flipH="false" flipV="false" rot="0">
            <a:off x="3270506" y="6866564"/>
            <a:ext cx="765797" cy="666552"/>
          </a:xfrm>
          <a:custGeom>
            <a:avLst/>
            <a:gdLst/>
            <a:ahLst/>
            <a:cxnLst/>
            <a:rect r="r" b="b" t="t" l="l"/>
            <a:pathLst>
              <a:path h="666552" w="765797">
                <a:moveTo>
                  <a:pt x="0" y="0"/>
                </a:moveTo>
                <a:lnTo>
                  <a:pt x="765797" y="0"/>
                </a:lnTo>
                <a:lnTo>
                  <a:pt x="765797" y="666552"/>
                </a:lnTo>
                <a:lnTo>
                  <a:pt x="0" y="666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7" id="27"/>
          <p:cNvGrpSpPr/>
          <p:nvPr/>
        </p:nvGrpSpPr>
        <p:grpSpPr>
          <a:xfrm rot="0">
            <a:off x="4177556" y="7810114"/>
            <a:ext cx="3609980" cy="666660"/>
            <a:chOff x="0" y="0"/>
            <a:chExt cx="950777" cy="175581"/>
          </a:xfrm>
        </p:grpSpPr>
        <p:sp>
          <p:nvSpPr>
            <p:cNvPr name="Freeform 28" id="28"/>
            <p:cNvSpPr/>
            <p:nvPr/>
          </p:nvSpPr>
          <p:spPr>
            <a:xfrm flipH="false" flipV="false" rot="0">
              <a:off x="0" y="0"/>
              <a:ext cx="950777" cy="175581"/>
            </a:xfrm>
            <a:custGeom>
              <a:avLst/>
              <a:gdLst/>
              <a:ahLst/>
              <a:cxnLst/>
              <a:rect r="r" b="b" t="t" l="l"/>
              <a:pathLst>
                <a:path h="175581" w="950777">
                  <a:moveTo>
                    <a:pt x="25735" y="0"/>
                  </a:moveTo>
                  <a:lnTo>
                    <a:pt x="925042" y="0"/>
                  </a:lnTo>
                  <a:cubicBezTo>
                    <a:pt x="939255" y="0"/>
                    <a:pt x="950777" y="11522"/>
                    <a:pt x="950777" y="25735"/>
                  </a:cubicBezTo>
                  <a:lnTo>
                    <a:pt x="950777" y="149846"/>
                  </a:lnTo>
                  <a:cubicBezTo>
                    <a:pt x="950777" y="164059"/>
                    <a:pt x="939255" y="175581"/>
                    <a:pt x="925042" y="175581"/>
                  </a:cubicBezTo>
                  <a:lnTo>
                    <a:pt x="25735" y="175581"/>
                  </a:lnTo>
                  <a:cubicBezTo>
                    <a:pt x="11522" y="175581"/>
                    <a:pt x="0" y="164059"/>
                    <a:pt x="0" y="149846"/>
                  </a:cubicBezTo>
                  <a:lnTo>
                    <a:pt x="0" y="25735"/>
                  </a:lnTo>
                  <a:cubicBezTo>
                    <a:pt x="0" y="11522"/>
                    <a:pt x="11522" y="0"/>
                    <a:pt x="25735" y="0"/>
                  </a:cubicBezTo>
                  <a:close/>
                </a:path>
              </a:pathLst>
            </a:custGeom>
            <a:solidFill>
              <a:srgbClr val="79D452"/>
            </a:solidFill>
          </p:spPr>
        </p:sp>
        <p:sp>
          <p:nvSpPr>
            <p:cNvPr name="TextBox 29" id="29"/>
            <p:cNvSpPr txBox="true"/>
            <p:nvPr/>
          </p:nvSpPr>
          <p:spPr>
            <a:xfrm>
              <a:off x="0" y="-57150"/>
              <a:ext cx="950777" cy="232731"/>
            </a:xfrm>
            <a:prstGeom prst="rect">
              <a:avLst/>
            </a:prstGeom>
          </p:spPr>
          <p:txBody>
            <a:bodyPr anchor="ctr" rtlCol="false" tIns="50800" lIns="50800" bIns="50800" rIns="50800"/>
            <a:lstStyle/>
            <a:p>
              <a:pPr algn="ctr">
                <a:lnSpc>
                  <a:spcPts val="3577"/>
                </a:lnSpc>
              </a:pPr>
              <a:r>
                <a:rPr lang="en-US" b="true" sz="2555">
                  <a:solidFill>
                    <a:srgbClr val="FFFFFF"/>
                  </a:solidFill>
                  <a:latin typeface="Balsamiq Sans Bold"/>
                  <a:ea typeface="Balsamiq Sans Bold"/>
                  <a:cs typeface="Balsamiq Sans Bold"/>
                  <a:sym typeface="Balsamiq Sans Bold"/>
                </a:rPr>
                <a:t>USO BD RELACIONAL</a:t>
              </a:r>
            </a:p>
          </p:txBody>
        </p:sp>
      </p:grpSp>
      <p:sp>
        <p:nvSpPr>
          <p:cNvPr name="Freeform 30" id="30"/>
          <p:cNvSpPr/>
          <p:nvPr/>
        </p:nvSpPr>
        <p:spPr>
          <a:xfrm flipH="false" flipV="false" rot="0">
            <a:off x="3270506" y="7810114"/>
            <a:ext cx="765797" cy="666552"/>
          </a:xfrm>
          <a:custGeom>
            <a:avLst/>
            <a:gdLst/>
            <a:ahLst/>
            <a:cxnLst/>
            <a:rect r="r" b="b" t="t" l="l"/>
            <a:pathLst>
              <a:path h="666552" w="765797">
                <a:moveTo>
                  <a:pt x="0" y="0"/>
                </a:moveTo>
                <a:lnTo>
                  <a:pt x="765797" y="0"/>
                </a:lnTo>
                <a:lnTo>
                  <a:pt x="765797" y="666552"/>
                </a:lnTo>
                <a:lnTo>
                  <a:pt x="0" y="666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1" id="31"/>
          <p:cNvSpPr txBox="true"/>
          <p:nvPr/>
        </p:nvSpPr>
        <p:spPr>
          <a:xfrm rot="0">
            <a:off x="2869588" y="1140764"/>
            <a:ext cx="7334003" cy="2307941"/>
          </a:xfrm>
          <a:prstGeom prst="rect">
            <a:avLst/>
          </a:prstGeom>
        </p:spPr>
        <p:txBody>
          <a:bodyPr anchor="t" rtlCol="false" tIns="0" lIns="0" bIns="0" rIns="0">
            <a:spAutoFit/>
          </a:bodyPr>
          <a:lstStyle/>
          <a:p>
            <a:pPr algn="l">
              <a:lnSpc>
                <a:spcPts val="9290"/>
              </a:lnSpc>
            </a:pPr>
            <a:r>
              <a:rPr lang="en-US" sz="6636">
                <a:solidFill>
                  <a:srgbClr val="003B6D"/>
                </a:solidFill>
                <a:latin typeface="Lilita One"/>
                <a:ea typeface="Lilita One"/>
                <a:cs typeface="Lilita One"/>
                <a:sym typeface="Lilita One"/>
              </a:rPr>
              <a:t>OBJETIVOS DEL PROYECTO</a:t>
            </a:r>
          </a:p>
        </p:txBody>
      </p:sp>
      <p:grpSp>
        <p:nvGrpSpPr>
          <p:cNvPr name="Group 32" id="32"/>
          <p:cNvGrpSpPr/>
          <p:nvPr/>
        </p:nvGrpSpPr>
        <p:grpSpPr>
          <a:xfrm rot="0">
            <a:off x="9804498" y="4833491"/>
            <a:ext cx="5951328" cy="3619401"/>
            <a:chOff x="0" y="0"/>
            <a:chExt cx="1567428" cy="953258"/>
          </a:xfrm>
        </p:grpSpPr>
        <p:sp>
          <p:nvSpPr>
            <p:cNvPr name="Freeform 33" id="33"/>
            <p:cNvSpPr/>
            <p:nvPr/>
          </p:nvSpPr>
          <p:spPr>
            <a:xfrm flipH="false" flipV="false" rot="0">
              <a:off x="0" y="0"/>
              <a:ext cx="1567428" cy="953258"/>
            </a:xfrm>
            <a:custGeom>
              <a:avLst/>
              <a:gdLst/>
              <a:ahLst/>
              <a:cxnLst/>
              <a:rect r="r" b="b" t="t" l="l"/>
              <a:pathLst>
                <a:path h="953258" w="1567428">
                  <a:moveTo>
                    <a:pt x="15610" y="0"/>
                  </a:moveTo>
                  <a:lnTo>
                    <a:pt x="1551817" y="0"/>
                  </a:lnTo>
                  <a:cubicBezTo>
                    <a:pt x="1555958" y="0"/>
                    <a:pt x="1559928" y="1645"/>
                    <a:pt x="1562856" y="4572"/>
                  </a:cubicBezTo>
                  <a:cubicBezTo>
                    <a:pt x="1565783" y="7500"/>
                    <a:pt x="1567428" y="11470"/>
                    <a:pt x="1567428" y="15610"/>
                  </a:cubicBezTo>
                  <a:lnTo>
                    <a:pt x="1567428" y="937647"/>
                  </a:lnTo>
                  <a:cubicBezTo>
                    <a:pt x="1567428" y="941788"/>
                    <a:pt x="1565783" y="945758"/>
                    <a:pt x="1562856" y="948686"/>
                  </a:cubicBezTo>
                  <a:cubicBezTo>
                    <a:pt x="1559928" y="951613"/>
                    <a:pt x="1555958" y="953258"/>
                    <a:pt x="1551817" y="953258"/>
                  </a:cubicBezTo>
                  <a:lnTo>
                    <a:pt x="15610" y="953258"/>
                  </a:lnTo>
                  <a:cubicBezTo>
                    <a:pt x="11470" y="953258"/>
                    <a:pt x="7500" y="951613"/>
                    <a:pt x="4572" y="948686"/>
                  </a:cubicBezTo>
                  <a:cubicBezTo>
                    <a:pt x="1645" y="945758"/>
                    <a:pt x="0" y="941788"/>
                    <a:pt x="0" y="937647"/>
                  </a:cubicBezTo>
                  <a:lnTo>
                    <a:pt x="0" y="15610"/>
                  </a:lnTo>
                  <a:cubicBezTo>
                    <a:pt x="0" y="11470"/>
                    <a:pt x="1645" y="7500"/>
                    <a:pt x="4572" y="4572"/>
                  </a:cubicBezTo>
                  <a:cubicBezTo>
                    <a:pt x="7500" y="1645"/>
                    <a:pt x="11470" y="0"/>
                    <a:pt x="15610" y="0"/>
                  </a:cubicBezTo>
                  <a:close/>
                </a:path>
              </a:pathLst>
            </a:custGeom>
            <a:solidFill>
              <a:srgbClr val="EA6849">
                <a:alpha val="41961"/>
              </a:srgbClr>
            </a:solidFill>
          </p:spPr>
        </p:sp>
        <p:sp>
          <p:nvSpPr>
            <p:cNvPr name="TextBox 34" id="34"/>
            <p:cNvSpPr txBox="true"/>
            <p:nvPr/>
          </p:nvSpPr>
          <p:spPr>
            <a:xfrm>
              <a:off x="0" y="-57150"/>
              <a:ext cx="1567428" cy="1010408"/>
            </a:xfrm>
            <a:prstGeom prst="rect">
              <a:avLst/>
            </a:prstGeom>
          </p:spPr>
          <p:txBody>
            <a:bodyPr anchor="ctr" rtlCol="false" tIns="50800" lIns="50800" bIns="50800" rIns="50800"/>
            <a:lstStyle/>
            <a:p>
              <a:pPr algn="ctr">
                <a:lnSpc>
                  <a:spcPts val="3577"/>
                </a:lnSpc>
              </a:pPr>
            </a:p>
          </p:txBody>
        </p:sp>
      </p:grpSp>
      <p:grpSp>
        <p:nvGrpSpPr>
          <p:cNvPr name="Group 35" id="35"/>
          <p:cNvGrpSpPr/>
          <p:nvPr/>
        </p:nvGrpSpPr>
        <p:grpSpPr>
          <a:xfrm rot="0">
            <a:off x="9330102" y="4500215"/>
            <a:ext cx="3609980" cy="1114119"/>
            <a:chOff x="0" y="0"/>
            <a:chExt cx="950777" cy="293430"/>
          </a:xfrm>
        </p:grpSpPr>
        <p:sp>
          <p:nvSpPr>
            <p:cNvPr name="Freeform 36" id="36"/>
            <p:cNvSpPr/>
            <p:nvPr/>
          </p:nvSpPr>
          <p:spPr>
            <a:xfrm flipH="false" flipV="false" rot="0">
              <a:off x="0" y="0"/>
              <a:ext cx="950777" cy="293430"/>
            </a:xfrm>
            <a:custGeom>
              <a:avLst/>
              <a:gdLst/>
              <a:ahLst/>
              <a:cxnLst/>
              <a:rect r="r" b="b" t="t" l="l"/>
              <a:pathLst>
                <a:path h="293430" w="950777">
                  <a:moveTo>
                    <a:pt x="25735" y="0"/>
                  </a:moveTo>
                  <a:lnTo>
                    <a:pt x="925042" y="0"/>
                  </a:lnTo>
                  <a:cubicBezTo>
                    <a:pt x="939255" y="0"/>
                    <a:pt x="950777" y="11522"/>
                    <a:pt x="950777" y="25735"/>
                  </a:cubicBezTo>
                  <a:lnTo>
                    <a:pt x="950777" y="267695"/>
                  </a:lnTo>
                  <a:cubicBezTo>
                    <a:pt x="950777" y="281908"/>
                    <a:pt x="939255" y="293430"/>
                    <a:pt x="925042" y="293430"/>
                  </a:cubicBezTo>
                  <a:lnTo>
                    <a:pt x="25735" y="293430"/>
                  </a:lnTo>
                  <a:cubicBezTo>
                    <a:pt x="11522" y="293430"/>
                    <a:pt x="0" y="281908"/>
                    <a:pt x="0" y="267695"/>
                  </a:cubicBezTo>
                  <a:lnTo>
                    <a:pt x="0" y="25735"/>
                  </a:lnTo>
                  <a:cubicBezTo>
                    <a:pt x="0" y="11522"/>
                    <a:pt x="11522" y="0"/>
                    <a:pt x="25735" y="0"/>
                  </a:cubicBezTo>
                  <a:close/>
                </a:path>
              </a:pathLst>
            </a:custGeom>
            <a:solidFill>
              <a:srgbClr val="8F0000"/>
            </a:solidFill>
          </p:spPr>
        </p:sp>
        <p:sp>
          <p:nvSpPr>
            <p:cNvPr name="TextBox 37" id="37"/>
            <p:cNvSpPr txBox="true"/>
            <p:nvPr/>
          </p:nvSpPr>
          <p:spPr>
            <a:xfrm>
              <a:off x="0" y="-57150"/>
              <a:ext cx="950777" cy="350580"/>
            </a:xfrm>
            <a:prstGeom prst="rect">
              <a:avLst/>
            </a:prstGeom>
          </p:spPr>
          <p:txBody>
            <a:bodyPr anchor="ctr" rtlCol="false" tIns="50800" lIns="50800" bIns="50800" rIns="50800"/>
            <a:lstStyle/>
            <a:p>
              <a:pPr algn="ctr">
                <a:lnSpc>
                  <a:spcPts val="3577"/>
                </a:lnSpc>
              </a:pPr>
              <a:r>
                <a:rPr lang="en-US" b="true" sz="2555">
                  <a:solidFill>
                    <a:srgbClr val="FFFFFF"/>
                  </a:solidFill>
                  <a:latin typeface="Balsamiq Sans Bold"/>
                  <a:ea typeface="Balsamiq Sans Bold"/>
                  <a:cs typeface="Balsamiq Sans Bold"/>
                  <a:sym typeface="Balsamiq Sans Bold"/>
                </a:rPr>
                <a:t>NO ES NUESTRO OBJETIVO</a:t>
              </a:r>
            </a:p>
          </p:txBody>
        </p:sp>
      </p:grpSp>
      <p:sp>
        <p:nvSpPr>
          <p:cNvPr name="Freeform 38" id="38"/>
          <p:cNvSpPr/>
          <p:nvPr/>
        </p:nvSpPr>
        <p:spPr>
          <a:xfrm flipH="false" flipV="false" rot="0">
            <a:off x="14126636" y="4190821"/>
            <a:ext cx="1406366" cy="1252944"/>
          </a:xfrm>
          <a:custGeom>
            <a:avLst/>
            <a:gdLst/>
            <a:ahLst/>
            <a:cxnLst/>
            <a:rect r="r" b="b" t="t" l="l"/>
            <a:pathLst>
              <a:path h="1252944" w="1406366">
                <a:moveTo>
                  <a:pt x="0" y="0"/>
                </a:moveTo>
                <a:lnTo>
                  <a:pt x="1406366" y="0"/>
                </a:lnTo>
                <a:lnTo>
                  <a:pt x="1406366" y="1252944"/>
                </a:lnTo>
                <a:lnTo>
                  <a:pt x="0" y="1252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9" id="39"/>
          <p:cNvSpPr txBox="true"/>
          <p:nvPr/>
        </p:nvSpPr>
        <p:spPr>
          <a:xfrm rot="0">
            <a:off x="10300672" y="5781850"/>
            <a:ext cx="4954846" cy="1348867"/>
          </a:xfrm>
          <a:prstGeom prst="rect">
            <a:avLst/>
          </a:prstGeom>
        </p:spPr>
        <p:txBody>
          <a:bodyPr anchor="t" rtlCol="false" tIns="0" lIns="0" bIns="0" rIns="0">
            <a:spAutoFit/>
          </a:bodyPr>
          <a:lstStyle/>
          <a:p>
            <a:pPr algn="l">
              <a:lnSpc>
                <a:spcPts val="3639"/>
              </a:lnSpc>
              <a:spcBef>
                <a:spcPct val="0"/>
              </a:spcBef>
            </a:pPr>
            <a:r>
              <a:rPr lang="en-US" sz="2599">
                <a:solidFill>
                  <a:srgbClr val="000000"/>
                </a:solidFill>
                <a:latin typeface="Balsamiq Sans"/>
                <a:ea typeface="Balsamiq Sans"/>
                <a:cs typeface="Balsamiq Sans"/>
                <a:sym typeface="Balsamiq Sans"/>
              </a:rPr>
              <a:t>Hacer una pagina como Classroom y tampoco hacer un aula virtual</a:t>
            </a:r>
          </a:p>
        </p:txBody>
      </p:sp>
      <p:sp>
        <p:nvSpPr>
          <p:cNvPr name="Freeform 40" id="40"/>
          <p:cNvSpPr/>
          <p:nvPr/>
        </p:nvSpPr>
        <p:spPr>
          <a:xfrm flipH="false" flipV="false" rot="0">
            <a:off x="13410882" y="8843417"/>
            <a:ext cx="6710974" cy="2533393"/>
          </a:xfrm>
          <a:custGeom>
            <a:avLst/>
            <a:gdLst/>
            <a:ahLst/>
            <a:cxnLst/>
            <a:rect r="r" b="b" t="t" l="l"/>
            <a:pathLst>
              <a:path h="2533393" w="6710974">
                <a:moveTo>
                  <a:pt x="0" y="0"/>
                </a:moveTo>
                <a:lnTo>
                  <a:pt x="6710974" y="0"/>
                </a:lnTo>
                <a:lnTo>
                  <a:pt x="6710974" y="2533393"/>
                </a:lnTo>
                <a:lnTo>
                  <a:pt x="0" y="25333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81075" y="0"/>
            <a:ext cx="272469" cy="10287000"/>
            <a:chOff x="0" y="0"/>
            <a:chExt cx="363292" cy="13716000"/>
          </a:xfrm>
        </p:grpSpPr>
        <p:sp>
          <p:nvSpPr>
            <p:cNvPr name="AutoShape 4" id="4"/>
            <p:cNvSpPr/>
            <p:nvPr/>
          </p:nvSpPr>
          <p:spPr>
            <a:xfrm rot="-5400000">
              <a:off x="-6826250" y="6826250"/>
              <a:ext cx="13716000" cy="0"/>
            </a:xfrm>
            <a:prstGeom prst="line">
              <a:avLst/>
            </a:prstGeom>
            <a:ln cap="flat" w="63500">
              <a:solidFill>
                <a:srgbClr val="D40303"/>
              </a:solidFill>
              <a:prstDash val="solid"/>
              <a:headEnd type="none" len="sm" w="sm"/>
              <a:tailEnd type="none" len="sm" w="sm"/>
            </a:ln>
          </p:spPr>
        </p:sp>
        <p:sp>
          <p:nvSpPr>
            <p:cNvPr name="AutoShape 5" id="5"/>
            <p:cNvSpPr/>
            <p:nvPr/>
          </p:nvSpPr>
          <p:spPr>
            <a:xfrm rot="-5400000">
              <a:off x="-6526458" y="6826250"/>
              <a:ext cx="13716000" cy="0"/>
            </a:xfrm>
            <a:prstGeom prst="line">
              <a:avLst/>
            </a:prstGeom>
            <a:ln cap="flat" w="63500">
              <a:solidFill>
                <a:srgbClr val="D40303"/>
              </a:solidFill>
              <a:prstDash val="solid"/>
              <a:headEnd type="none" len="sm" w="sm"/>
              <a:tailEnd type="none" len="sm" w="sm"/>
            </a:ln>
          </p:spPr>
        </p:sp>
      </p:grpSp>
      <p:grpSp>
        <p:nvGrpSpPr>
          <p:cNvPr name="Group 6" id="6"/>
          <p:cNvGrpSpPr/>
          <p:nvPr/>
        </p:nvGrpSpPr>
        <p:grpSpPr>
          <a:xfrm rot="0">
            <a:off x="1660540" y="1274114"/>
            <a:ext cx="532448" cy="53244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60540" y="4877276"/>
            <a:ext cx="532448" cy="53244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660540" y="8476774"/>
            <a:ext cx="532448" cy="53244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a:grpSpLocks noChangeAspect="true"/>
          </p:cNvGrpSpPr>
          <p:nvPr/>
        </p:nvGrpSpPr>
        <p:grpSpPr>
          <a:xfrm rot="0">
            <a:off x="10225843" y="2224843"/>
            <a:ext cx="8062157" cy="8062157"/>
            <a:chOff x="0" y="0"/>
            <a:chExt cx="3331210" cy="3331210"/>
          </a:xfrm>
        </p:grpSpPr>
        <p:sp>
          <p:nvSpPr>
            <p:cNvPr name="Freeform 16" id="16"/>
            <p:cNvSpPr/>
            <p:nvPr/>
          </p:nvSpPr>
          <p:spPr>
            <a:xfrm flipH="false" flipV="false" rot="0">
              <a:off x="0" y="0"/>
              <a:ext cx="3331210" cy="3331210"/>
            </a:xfrm>
            <a:custGeom>
              <a:avLst/>
              <a:gdLst/>
              <a:ahLst/>
              <a:cxnLst/>
              <a:rect r="r" b="b" t="t" l="l"/>
              <a:pathLst>
                <a:path h="3331210" w="3331210">
                  <a:moveTo>
                    <a:pt x="3331210" y="3331210"/>
                  </a:moveTo>
                  <a:lnTo>
                    <a:pt x="0" y="3331210"/>
                  </a:lnTo>
                  <a:cubicBezTo>
                    <a:pt x="0" y="1490980"/>
                    <a:pt x="1490980" y="0"/>
                    <a:pt x="3331210" y="0"/>
                  </a:cubicBezTo>
                  <a:lnTo>
                    <a:pt x="3331210" y="3331210"/>
                  </a:lnTo>
                  <a:close/>
                </a:path>
              </a:pathLst>
            </a:custGeom>
            <a:blipFill>
              <a:blip r:embed="rId3"/>
              <a:stretch>
                <a:fillRect l="-24906" t="0" r="-24906" b="0"/>
              </a:stretch>
            </a:blipFill>
          </p:spPr>
        </p:sp>
      </p:grpSp>
      <p:sp>
        <p:nvSpPr>
          <p:cNvPr name="Freeform 17" id="17"/>
          <p:cNvSpPr/>
          <p:nvPr/>
        </p:nvSpPr>
        <p:spPr>
          <a:xfrm flipH="false" flipV="false" rot="0">
            <a:off x="15725595" y="1540338"/>
            <a:ext cx="4180966" cy="1520351"/>
          </a:xfrm>
          <a:custGeom>
            <a:avLst/>
            <a:gdLst/>
            <a:ahLst/>
            <a:cxnLst/>
            <a:rect r="r" b="b" t="t" l="l"/>
            <a:pathLst>
              <a:path h="1520351" w="4180966">
                <a:moveTo>
                  <a:pt x="0" y="0"/>
                </a:moveTo>
                <a:lnTo>
                  <a:pt x="4180966" y="0"/>
                </a:lnTo>
                <a:lnTo>
                  <a:pt x="4180966" y="1520351"/>
                </a:lnTo>
                <a:lnTo>
                  <a:pt x="0" y="152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9144000" y="8476774"/>
            <a:ext cx="3396312" cy="2186376"/>
          </a:xfrm>
          <a:custGeom>
            <a:avLst/>
            <a:gdLst/>
            <a:ahLst/>
            <a:cxnLst/>
            <a:rect r="r" b="b" t="t" l="l"/>
            <a:pathLst>
              <a:path h="2186376" w="3396312">
                <a:moveTo>
                  <a:pt x="0" y="0"/>
                </a:moveTo>
                <a:lnTo>
                  <a:pt x="3396312" y="0"/>
                </a:lnTo>
                <a:lnTo>
                  <a:pt x="3396312" y="2186376"/>
                </a:lnTo>
                <a:lnTo>
                  <a:pt x="0" y="21863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3061625" y="1534587"/>
            <a:ext cx="10909469" cy="1190378"/>
          </a:xfrm>
          <a:prstGeom prst="rect">
            <a:avLst/>
          </a:prstGeom>
        </p:spPr>
        <p:txBody>
          <a:bodyPr anchor="t" rtlCol="false" tIns="0" lIns="0" bIns="0" rIns="0">
            <a:spAutoFit/>
          </a:bodyPr>
          <a:lstStyle/>
          <a:p>
            <a:pPr algn="l">
              <a:lnSpc>
                <a:spcPts val="9544"/>
              </a:lnSpc>
            </a:pPr>
            <a:r>
              <a:rPr lang="en-US" sz="6817">
                <a:solidFill>
                  <a:srgbClr val="003B6D"/>
                </a:solidFill>
                <a:latin typeface="Lilita One"/>
                <a:ea typeface="Lilita One"/>
                <a:cs typeface="Lilita One"/>
                <a:sym typeface="Lilita One"/>
              </a:rPr>
              <a:t>DESARROLLO DEL TEMA</a:t>
            </a:r>
          </a:p>
        </p:txBody>
      </p:sp>
      <p:sp>
        <p:nvSpPr>
          <p:cNvPr name="TextBox 20" id="20"/>
          <p:cNvSpPr txBox="true"/>
          <p:nvPr/>
        </p:nvSpPr>
        <p:spPr>
          <a:xfrm rot="0">
            <a:off x="3061625" y="2923303"/>
            <a:ext cx="8082280" cy="3894646"/>
          </a:xfrm>
          <a:prstGeom prst="rect">
            <a:avLst/>
          </a:prstGeom>
        </p:spPr>
        <p:txBody>
          <a:bodyPr anchor="t" rtlCol="false" tIns="0" lIns="0" bIns="0" rIns="0">
            <a:spAutoFit/>
          </a:bodyPr>
          <a:lstStyle/>
          <a:p>
            <a:pPr algn="l">
              <a:lnSpc>
                <a:spcPts val="3928"/>
              </a:lnSpc>
              <a:spcBef>
                <a:spcPct val="0"/>
              </a:spcBef>
            </a:pPr>
            <a:r>
              <a:rPr lang="en-US" sz="2806">
                <a:solidFill>
                  <a:srgbClr val="000000"/>
                </a:solidFill>
                <a:latin typeface="Balsamiq Sans"/>
                <a:ea typeface="Balsamiq Sans"/>
                <a:cs typeface="Balsamiq Sans"/>
                <a:sym typeface="Balsamiq Sans"/>
              </a:rPr>
              <a:t>El p</a:t>
            </a:r>
            <a:r>
              <a:rPr lang="en-US" sz="2806">
                <a:solidFill>
                  <a:srgbClr val="000000"/>
                </a:solidFill>
                <a:latin typeface="Balsamiq Sans"/>
                <a:ea typeface="Balsamiq Sans"/>
                <a:cs typeface="Balsamiq Sans"/>
                <a:sym typeface="Balsamiq Sans"/>
              </a:rPr>
              <a:t>royecto consiste en el desarrollo de un sistema web creado con Django, el framework de desarrollo de aplicaciones en Python. Su objetivo principal es digitalizar y optimizar el proceso de inscripción y reinscripción a materias y cursos de la Universidad Tecnológica Nacional (UTN), facilitando la gestión tanto para los estudiantes como para el personal administrativo.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81075" y="0"/>
            <a:ext cx="272469" cy="10287000"/>
            <a:chOff x="0" y="0"/>
            <a:chExt cx="363292" cy="13716000"/>
          </a:xfrm>
        </p:grpSpPr>
        <p:sp>
          <p:nvSpPr>
            <p:cNvPr name="AutoShape 4" id="4"/>
            <p:cNvSpPr/>
            <p:nvPr/>
          </p:nvSpPr>
          <p:spPr>
            <a:xfrm rot="-5400000">
              <a:off x="-6826250" y="6826250"/>
              <a:ext cx="13716000" cy="0"/>
            </a:xfrm>
            <a:prstGeom prst="line">
              <a:avLst/>
            </a:prstGeom>
            <a:ln cap="flat" w="63500">
              <a:solidFill>
                <a:srgbClr val="D40303"/>
              </a:solidFill>
              <a:prstDash val="solid"/>
              <a:headEnd type="none" len="sm" w="sm"/>
              <a:tailEnd type="none" len="sm" w="sm"/>
            </a:ln>
          </p:spPr>
        </p:sp>
        <p:sp>
          <p:nvSpPr>
            <p:cNvPr name="AutoShape 5" id="5"/>
            <p:cNvSpPr/>
            <p:nvPr/>
          </p:nvSpPr>
          <p:spPr>
            <a:xfrm rot="-5400000">
              <a:off x="-6526458" y="6826250"/>
              <a:ext cx="13716000" cy="0"/>
            </a:xfrm>
            <a:prstGeom prst="line">
              <a:avLst/>
            </a:prstGeom>
            <a:ln cap="flat" w="63500">
              <a:solidFill>
                <a:srgbClr val="D40303"/>
              </a:solidFill>
              <a:prstDash val="solid"/>
              <a:headEnd type="none" len="sm" w="sm"/>
              <a:tailEnd type="none" len="sm" w="sm"/>
            </a:ln>
          </p:spPr>
        </p:sp>
      </p:grpSp>
      <p:grpSp>
        <p:nvGrpSpPr>
          <p:cNvPr name="Group 6" id="6"/>
          <p:cNvGrpSpPr/>
          <p:nvPr/>
        </p:nvGrpSpPr>
        <p:grpSpPr>
          <a:xfrm rot="0">
            <a:off x="1660540" y="1274114"/>
            <a:ext cx="532448" cy="53244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60540" y="4877276"/>
            <a:ext cx="532448" cy="53244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660540" y="8476774"/>
            <a:ext cx="532448" cy="53244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B6D"/>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a:grpSpLocks noChangeAspect="true"/>
          </p:cNvGrpSpPr>
          <p:nvPr/>
        </p:nvGrpSpPr>
        <p:grpSpPr>
          <a:xfrm rot="0">
            <a:off x="10225843" y="2725064"/>
            <a:ext cx="8062157" cy="8062157"/>
            <a:chOff x="0" y="0"/>
            <a:chExt cx="3331210" cy="3331210"/>
          </a:xfrm>
        </p:grpSpPr>
        <p:sp>
          <p:nvSpPr>
            <p:cNvPr name="Freeform 16" id="16"/>
            <p:cNvSpPr/>
            <p:nvPr/>
          </p:nvSpPr>
          <p:spPr>
            <a:xfrm flipH="false" flipV="false" rot="0">
              <a:off x="0" y="0"/>
              <a:ext cx="3331210" cy="3331210"/>
            </a:xfrm>
            <a:custGeom>
              <a:avLst/>
              <a:gdLst/>
              <a:ahLst/>
              <a:cxnLst/>
              <a:rect r="r" b="b" t="t" l="l"/>
              <a:pathLst>
                <a:path h="3331210" w="3331210">
                  <a:moveTo>
                    <a:pt x="3331210" y="3331210"/>
                  </a:moveTo>
                  <a:lnTo>
                    <a:pt x="0" y="3331210"/>
                  </a:lnTo>
                  <a:cubicBezTo>
                    <a:pt x="0" y="1490980"/>
                    <a:pt x="1490980" y="0"/>
                    <a:pt x="3331210" y="0"/>
                  </a:cubicBezTo>
                  <a:lnTo>
                    <a:pt x="3331210" y="3331210"/>
                  </a:lnTo>
                  <a:close/>
                </a:path>
              </a:pathLst>
            </a:custGeom>
            <a:blipFill>
              <a:blip r:embed="rId3"/>
              <a:stretch>
                <a:fillRect l="-25059" t="0" r="-25059" b="0"/>
              </a:stretch>
            </a:blipFill>
          </p:spPr>
        </p:sp>
      </p:grpSp>
      <p:sp>
        <p:nvSpPr>
          <p:cNvPr name="Freeform 17" id="17"/>
          <p:cNvSpPr/>
          <p:nvPr/>
        </p:nvSpPr>
        <p:spPr>
          <a:xfrm flipH="false" flipV="false" rot="0">
            <a:off x="15725595" y="1540338"/>
            <a:ext cx="4180966" cy="1520351"/>
          </a:xfrm>
          <a:custGeom>
            <a:avLst/>
            <a:gdLst/>
            <a:ahLst/>
            <a:cxnLst/>
            <a:rect r="r" b="b" t="t" l="l"/>
            <a:pathLst>
              <a:path h="1520351" w="4180966">
                <a:moveTo>
                  <a:pt x="0" y="0"/>
                </a:moveTo>
                <a:lnTo>
                  <a:pt x="4180966" y="0"/>
                </a:lnTo>
                <a:lnTo>
                  <a:pt x="4180966" y="1520351"/>
                </a:lnTo>
                <a:lnTo>
                  <a:pt x="0" y="152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9144000" y="8476774"/>
            <a:ext cx="3396312" cy="2186376"/>
          </a:xfrm>
          <a:custGeom>
            <a:avLst/>
            <a:gdLst/>
            <a:ahLst/>
            <a:cxnLst/>
            <a:rect r="r" b="b" t="t" l="l"/>
            <a:pathLst>
              <a:path h="2186376" w="3396312">
                <a:moveTo>
                  <a:pt x="0" y="0"/>
                </a:moveTo>
                <a:lnTo>
                  <a:pt x="3396312" y="0"/>
                </a:lnTo>
                <a:lnTo>
                  <a:pt x="3396312" y="2186376"/>
                </a:lnTo>
                <a:lnTo>
                  <a:pt x="0" y="21863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3061625" y="1534587"/>
            <a:ext cx="12159745" cy="1190477"/>
          </a:xfrm>
          <a:prstGeom prst="rect">
            <a:avLst/>
          </a:prstGeom>
        </p:spPr>
        <p:txBody>
          <a:bodyPr anchor="t" rtlCol="false" tIns="0" lIns="0" bIns="0" rIns="0">
            <a:spAutoFit/>
          </a:bodyPr>
          <a:lstStyle/>
          <a:p>
            <a:pPr algn="l">
              <a:lnSpc>
                <a:spcPts val="9544"/>
              </a:lnSpc>
            </a:pPr>
            <a:r>
              <a:rPr lang="en-US" sz="6817">
                <a:solidFill>
                  <a:srgbClr val="003B6D"/>
                </a:solidFill>
                <a:latin typeface="Lilita One"/>
                <a:ea typeface="Lilita One"/>
                <a:cs typeface="Lilita One"/>
                <a:sym typeface="Lilita One"/>
              </a:rPr>
              <a:t>PROBLEMAS EN EL DESARROLLO </a:t>
            </a:r>
          </a:p>
        </p:txBody>
      </p:sp>
      <p:sp>
        <p:nvSpPr>
          <p:cNvPr name="TextBox 20" id="20"/>
          <p:cNvSpPr txBox="true"/>
          <p:nvPr/>
        </p:nvSpPr>
        <p:spPr>
          <a:xfrm rot="0">
            <a:off x="3061625" y="2923303"/>
            <a:ext cx="8082280" cy="5849035"/>
          </a:xfrm>
          <a:prstGeom prst="rect">
            <a:avLst/>
          </a:prstGeom>
        </p:spPr>
        <p:txBody>
          <a:bodyPr anchor="t" rtlCol="false" tIns="0" lIns="0" bIns="0" rIns="0">
            <a:spAutoFit/>
          </a:bodyPr>
          <a:lstStyle/>
          <a:p>
            <a:pPr algn="l" marL="605906" indent="-302953" lvl="1">
              <a:lnSpc>
                <a:spcPts val="3928"/>
              </a:lnSpc>
              <a:buFont typeface="Arial"/>
              <a:buChar char="•"/>
            </a:pPr>
            <a:r>
              <a:rPr lang="en-US" sz="2806">
                <a:solidFill>
                  <a:srgbClr val="000000"/>
                </a:solidFill>
                <a:latin typeface="Balsamiq Sans"/>
                <a:ea typeface="Balsamiq Sans"/>
                <a:cs typeface="Balsamiq Sans"/>
                <a:sym typeface="Balsamiq Sans"/>
              </a:rPr>
              <a:t>Debido al tipo de proyecto que nos toco tuvimos que tomar bastante tiempo en cargar los datos en la base, es tardado ya que mucha informacion esta correlacionada, como las carreras con las materias y las materias con los cursos</a:t>
            </a:r>
          </a:p>
          <a:p>
            <a:pPr algn="l" marL="605906" indent="-302953" lvl="1">
              <a:lnSpc>
                <a:spcPts val="3928"/>
              </a:lnSpc>
              <a:buFont typeface="Arial"/>
              <a:buChar char="•"/>
            </a:pPr>
            <a:r>
              <a:rPr lang="en-US" sz="2806">
                <a:solidFill>
                  <a:srgbClr val="000000"/>
                </a:solidFill>
                <a:latin typeface="Balsamiq Sans"/>
                <a:ea typeface="Balsamiq Sans"/>
                <a:cs typeface="Balsamiq Sans"/>
                <a:sym typeface="Balsamiq Sans"/>
              </a:rPr>
              <a:t>En el momento de juntar todas las ramas en una tuvimos varias complicaciones hasta que lo comprendimos bien</a:t>
            </a:r>
          </a:p>
          <a:p>
            <a:pPr algn="l" marL="605906" indent="-302953" lvl="1">
              <a:lnSpc>
                <a:spcPts val="3928"/>
              </a:lnSpc>
              <a:spcBef>
                <a:spcPct val="0"/>
              </a:spcBef>
              <a:buFont typeface="Arial"/>
              <a:buChar char="•"/>
            </a:pPr>
            <a:r>
              <a:rPr lang="en-US" sz="2806">
                <a:solidFill>
                  <a:srgbClr val="000000"/>
                </a:solidFill>
                <a:latin typeface="Balsamiq Sans"/>
                <a:ea typeface="Balsamiq Sans"/>
                <a:cs typeface="Balsamiq Sans"/>
                <a:sym typeface="Balsamiq Sans"/>
              </a:rPr>
              <a:t>Costo bastante el implementar   correctamente la api de google para iniciar sesion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73287" y="-695394"/>
            <a:ext cx="4824296" cy="2692835"/>
          </a:xfrm>
          <a:custGeom>
            <a:avLst/>
            <a:gdLst/>
            <a:ahLst/>
            <a:cxnLst/>
            <a:rect r="r" b="b" t="t" l="l"/>
            <a:pathLst>
              <a:path h="2692835" w="4824296">
                <a:moveTo>
                  <a:pt x="0" y="0"/>
                </a:moveTo>
                <a:lnTo>
                  <a:pt x="4824297" y="0"/>
                </a:lnTo>
                <a:lnTo>
                  <a:pt x="4824297" y="2692834"/>
                </a:lnTo>
                <a:lnTo>
                  <a:pt x="0" y="26928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621000" y="8172588"/>
            <a:ext cx="6581706" cy="3673789"/>
          </a:xfrm>
          <a:custGeom>
            <a:avLst/>
            <a:gdLst/>
            <a:ahLst/>
            <a:cxnLst/>
            <a:rect r="r" b="b" t="t" l="l"/>
            <a:pathLst>
              <a:path h="3673789" w="6581706">
                <a:moveTo>
                  <a:pt x="0" y="0"/>
                </a:moveTo>
                <a:lnTo>
                  <a:pt x="6581706" y="0"/>
                </a:lnTo>
                <a:lnTo>
                  <a:pt x="6581706" y="3673789"/>
                </a:lnTo>
                <a:lnTo>
                  <a:pt x="0" y="36737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240311" y="8545564"/>
            <a:ext cx="6018989" cy="4114800"/>
          </a:xfrm>
          <a:custGeom>
            <a:avLst/>
            <a:gdLst/>
            <a:ahLst/>
            <a:cxnLst/>
            <a:rect r="r" b="b" t="t" l="l"/>
            <a:pathLst>
              <a:path h="4114800" w="6018989">
                <a:moveTo>
                  <a:pt x="0" y="0"/>
                </a:moveTo>
                <a:lnTo>
                  <a:pt x="6018989" y="0"/>
                </a:lnTo>
                <a:lnTo>
                  <a:pt x="601898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609028" y="3594364"/>
            <a:ext cx="11069944" cy="1725906"/>
          </a:xfrm>
          <a:prstGeom prst="rect">
            <a:avLst/>
          </a:prstGeom>
        </p:spPr>
        <p:txBody>
          <a:bodyPr anchor="t" rtlCol="false" tIns="0" lIns="0" bIns="0" rIns="0">
            <a:spAutoFit/>
          </a:bodyPr>
          <a:lstStyle/>
          <a:p>
            <a:pPr algn="ctr">
              <a:lnSpc>
                <a:spcPts val="14050"/>
              </a:lnSpc>
            </a:pPr>
            <a:r>
              <a:rPr lang="en-US" sz="10035">
                <a:solidFill>
                  <a:srgbClr val="FFFFFF"/>
                </a:solidFill>
                <a:latin typeface="Lilita One"/>
                <a:ea typeface="Lilita One"/>
                <a:cs typeface="Lilita One"/>
                <a:sym typeface="Lilita One"/>
              </a:rPr>
              <a:t>GRACIAS POR VER</a:t>
            </a:r>
          </a:p>
        </p:txBody>
      </p:sp>
      <p:sp>
        <p:nvSpPr>
          <p:cNvPr name="Freeform 7" id="7"/>
          <p:cNvSpPr/>
          <p:nvPr/>
        </p:nvSpPr>
        <p:spPr>
          <a:xfrm flipH="false" flipV="false" rot="0">
            <a:off x="-3863345" y="442530"/>
            <a:ext cx="6018989" cy="4114800"/>
          </a:xfrm>
          <a:custGeom>
            <a:avLst/>
            <a:gdLst/>
            <a:ahLst/>
            <a:cxnLst/>
            <a:rect r="r" b="b" t="t" l="l"/>
            <a:pathLst>
              <a:path h="4114800" w="6018989">
                <a:moveTo>
                  <a:pt x="0" y="0"/>
                </a:moveTo>
                <a:lnTo>
                  <a:pt x="6018990" y="0"/>
                </a:lnTo>
                <a:lnTo>
                  <a:pt x="601899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DAG0XYGqZ4s</dc:identifier>
  <dcterms:modified xsi:type="dcterms:W3CDTF">2011-08-01T06:04:30Z</dcterms:modified>
  <cp:revision>1</cp:revision>
  <dc:title>presentacion gratis proyecto universidad academico azul</dc:title>
</cp:coreProperties>
</file>